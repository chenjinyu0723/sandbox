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70" r:id="rId5"/>
    <p:sldId id="268" r:id="rId6"/>
    <p:sldId id="258" r:id="rId7"/>
    <p:sldId id="259" r:id="rId8"/>
    <p:sldId id="260" r:id="rId9"/>
    <p:sldId id="271" r:id="rId10"/>
    <p:sldId id="261" r:id="rId11"/>
    <p:sldId id="273" r:id="rId13"/>
    <p:sldId id="262" r:id="rId14"/>
    <p:sldId id="274" r:id="rId15"/>
    <p:sldId id="275" r:id="rId16"/>
    <p:sldId id="276" r:id="rId17"/>
    <p:sldId id="263" r:id="rId18"/>
    <p:sldId id="278" r:id="rId19"/>
    <p:sldId id="281" r:id="rId20"/>
    <p:sldId id="282" r:id="rId21"/>
    <p:sldId id="266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3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CC3"/>
    <a:srgbClr val="E0F2FE"/>
    <a:srgbClr val="0284C7"/>
    <a:srgbClr val="0F8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35790D9-6039-440E-89DF-0CAE878B989A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1983"/>
        <p:guide pos="286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这个主题看情况</a:t>
            </a:r>
            <a:endParaRPr lang="zh-CN" altLang="en-US"/>
          </a:p>
          <a:p>
            <a:r>
              <a:rPr lang="zh-CN" altLang="en-US"/>
              <a:t>矛盾通常我们人类来</a:t>
            </a:r>
            <a:r>
              <a:rPr lang="en-US" altLang="zh-CN"/>
              <a:t>review</a:t>
            </a:r>
            <a:r>
              <a:rPr lang="zh-CN" altLang="en-US"/>
              <a:t>，后面的项目也是这样的</a:t>
            </a:r>
            <a:endParaRPr lang="zh-CN" altLang="en-US"/>
          </a:p>
          <a:p>
            <a:r>
              <a:rPr lang="zh-CN" altLang="en-US"/>
              <a:t>级联更新通过</a:t>
            </a:r>
            <a:r>
              <a:rPr lang="en-US" altLang="zh-CN"/>
              <a:t>wiki/index.md</a:t>
            </a:r>
            <a:r>
              <a:rPr lang="zh-CN" altLang="en-US"/>
              <a:t>来判断有哪些文件与当前主页面相关的，需要更新。修改完更新全局目录，加上这个主页面，还有操作日志。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image" Target="../media/image5.png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8" Type="http://schemas.openxmlformats.org/officeDocument/2006/relationships/notesSlide" Target="../notesSlides/notesSlide1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themeOverride" Target="../theme/themeOverride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tags" Target="../tags/tag45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6.xml"/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4420" y="2480310"/>
            <a:ext cx="464693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81810" y="2966085"/>
            <a:ext cx="9179560" cy="576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sz="3600" b="1" i="0" u="none">
                <a:solidFill>
                  <a:srgbClr val="F8FAFC"/>
                </a:solidFill>
                <a:latin typeface="Montserrat"/>
              </a:rPr>
              <a:t>LLM-Wiki: 从“单次检索”到“知识复利”</a:t>
            </a:r>
            <a:endParaRPr sz="3600" b="1" i="0" u="none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04795" y="3728085"/>
            <a:ext cx="6403975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Noto Sans SC"/>
              </a:rPr>
              <a:t>AI 时代泰斗 Andrej Karpathy 提出的自生长编译型知识库方案全景解析</a:t>
            </a:r>
            <a:r>
              <a:t>
</a:t>
            </a:r>
            <a:r>
              <a:rPr sz="1500" b="0" i="0" u="none">
                <a:solidFill>
                  <a:srgbClr val="64748B"/>
                </a:solidFill>
                <a:latin typeface="Noto Sans SC"/>
              </a:rPr>
              <a:t>—— 让每一次问答，都沉淀为企业知识资产的复利滚雪球 ——</a:t>
            </a:r>
            <a:endParaRPr sz="1500" b="0" i="0" u="none">
              <a:solidFill>
                <a:srgbClr val="64748B"/>
              </a:solidFill>
              <a:latin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96480"/>
            <a:ext cx="7620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39930" y="3120330"/>
            <a:ext cx="7112138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Montserrat"/>
              </a:rPr>
              <a:t>第一部分：传统 RAG 的局限与数据熵增</a:t>
            </a:r>
            <a:endParaRPr sz="3000" b="1" i="0" u="none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52800" y="3834705"/>
            <a:ext cx="5486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Noto Sans SC"/>
              </a:rPr>
              <a:t>企业文档以指数级增长，传统检索机制如何成为算力无底洞与知识孤岛？</a:t>
            </a:r>
            <a:endParaRPr sz="1350" b="0" i="0" u="none">
              <a:solidFill>
                <a:srgbClr val="94A3B8"/>
              </a:solidFill>
              <a:latin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6457950"/>
            <a:ext cx="221753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Montserrat"/>
              </a:rPr>
              <a:t>PART 01: CONTEXT &amp; CHALLENGES</a:t>
            </a:r>
            <a:endParaRPr sz="825" b="0" i="0" u="none">
              <a:solidFill>
                <a:srgbClr val="475569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 i="0" u="none">
                <a:solidFill>
                  <a:srgbClr val="0F172A"/>
                </a:solidFill>
                <a:latin typeface="Montserrat"/>
              </a:rPr>
              <a:t> </a:t>
            </a:r>
            <a:r>
              <a:rPr lang="zh-CN" altLang="en-US" sz="2400" b="1" i="0" u="none">
                <a:solidFill>
                  <a:srgbClr val="0F172A"/>
                </a:solidFill>
                <a:latin typeface="Montserrat"/>
              </a:rPr>
              <a:t>检索增强生成（</a:t>
            </a:r>
            <a:r>
              <a:rPr sz="2400" b="1" i="0" u="none">
                <a:solidFill>
                  <a:srgbClr val="0F172A"/>
                </a:solidFill>
                <a:latin typeface="Montserrat"/>
              </a:rPr>
              <a:t>RAG</a:t>
            </a:r>
            <a:r>
              <a:rPr lang="zh-CN" sz="2400" b="1" i="0" u="none">
                <a:solidFill>
                  <a:srgbClr val="0F172A"/>
                </a:solidFill>
                <a:latin typeface="Montserrat"/>
              </a:rPr>
              <a:t>）</a:t>
            </a:r>
            <a:r>
              <a:rPr sz="2400" b="1" i="0" u="none">
                <a:solidFill>
                  <a:srgbClr val="0F172A"/>
                </a:solidFill>
                <a:latin typeface="Montserrat"/>
              </a:rPr>
              <a:t>的</a:t>
            </a:r>
            <a:r>
              <a:rPr lang="zh-CN" altLang="en-US" sz="2400" b="1" i="0" u="none">
                <a:solidFill>
                  <a:srgbClr val="0F172A"/>
                </a:solidFill>
                <a:latin typeface="Montserrat"/>
              </a:rPr>
              <a:t>诞生背景</a:t>
            </a:r>
            <a:endParaRPr lang="zh-CN" altLang="en-US"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457950"/>
            <a:ext cx="221753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01: CONTEXT &amp; CHALLENGES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pic>
        <p:nvPicPr>
          <p:cNvPr id="4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33650"/>
            <a:ext cx="4720590" cy="18376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15007" y="2756366"/>
            <a:ext cx="4589948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ontserrat"/>
                <a:sym typeface="Arial" panose="020B0604020202020204"/>
              </a:rPr>
              <a:t>大模型知识受限与幻觉</a:t>
            </a:r>
            <a:r>
              <a:rPr lang="zh-CN" sz="1500" b="1">
                <a:solidFill>
                  <a:srgbClr val="0F172A"/>
                </a:solidFill>
                <a:latin typeface="Montserrat"/>
                <a:sym typeface="Arial" panose="020B0604020202020204"/>
              </a:rPr>
              <a:t>的出现</a:t>
            </a:r>
            <a:endParaRPr lang="zh-CN" sz="1500" b="1" i="0" u="none">
              <a:solidFill>
                <a:srgbClr val="0F172A"/>
              </a:solidFill>
              <a:latin typeface="Montserrat"/>
              <a:sym typeface="Arial" panose="020B0604020202020204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1209675" y="3114506"/>
            <a:ext cx="444341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algn="l" rtl="0">
              <a:lnSpc>
                <a:spcPts val="16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sz="1050" b="1">
                <a:solidFill>
                  <a:srgbClr val="475569"/>
                </a:solidFill>
                <a:latin typeface="Noto Sans SC"/>
                <a:sym typeface="Inter" panose="02000503000000020004"/>
              </a:rPr>
              <a:t>大模型的知识受限于预训练阶段时的知识库</a:t>
            </a:r>
            <a:endParaRPr sz="1050" b="1" i="0" u="none" strike="noStrike" cap="none">
              <a:solidFill>
                <a:srgbClr val="475569"/>
              </a:solidFill>
              <a:latin typeface="Noto Sans SC"/>
              <a:sym typeface="Inter" panose="02000503000000020004"/>
            </a:endParaRPr>
          </a:p>
          <a:p>
            <a:pPr marL="0" marR="0" lvl="0" algn="l" rtl="0">
              <a:lnSpc>
                <a:spcPts val="1680"/>
              </a:lnSpc>
              <a:spcBef>
                <a:spcPts val="0"/>
              </a:spcBef>
              <a:buClrTx/>
              <a:buSzTx/>
              <a:buFontTx/>
              <a:buNone/>
            </a:pPr>
            <a:endParaRPr sz="1050" b="1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1" name="TextBox 20"/>
          <p:cNvSpPr txBox="1"/>
          <p:nvPr>
            <p:custDataLst>
              <p:tags r:id="rId4"/>
            </p:custDataLst>
          </p:nvPr>
        </p:nvSpPr>
        <p:spPr>
          <a:xfrm>
            <a:off x="1038225" y="3114506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B45309"/>
                </a:solidFill>
                <a:latin typeface="Noto Sans SC"/>
              </a:rPr>
              <a:t>•</a:t>
            </a:r>
            <a:endParaRPr sz="1050" b="1" i="0" u="none">
              <a:solidFill>
                <a:srgbClr val="B45309"/>
              </a:solidFill>
              <a:latin typeface="Noto Sans SC"/>
            </a:endParaRPr>
          </a:p>
        </p:txBody>
      </p:sp>
      <p:sp>
        <p:nvSpPr>
          <p:cNvPr id="22" name="TextBox 21"/>
          <p:cNvSpPr txBox="1"/>
          <p:nvPr>
            <p:custDataLst>
              <p:tags r:id="rId5"/>
            </p:custDataLst>
          </p:nvPr>
        </p:nvSpPr>
        <p:spPr>
          <a:xfrm>
            <a:off x="1038225" y="3461037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B45309"/>
                </a:solidFill>
                <a:latin typeface="Noto Sans SC"/>
              </a:rPr>
              <a:t>•</a:t>
            </a:r>
            <a:endParaRPr sz="1050" b="1" i="0" u="none">
              <a:solidFill>
                <a:srgbClr val="B45309"/>
              </a:solidFill>
              <a:latin typeface="Noto Sans SC"/>
            </a:endParaRPr>
          </a:p>
        </p:txBody>
      </p:sp>
      <p:sp>
        <p:nvSpPr>
          <p:cNvPr id="23" name="TextBox 22"/>
          <p:cNvSpPr txBox="1"/>
          <p:nvPr>
            <p:custDataLst>
              <p:tags r:id="rId6"/>
            </p:custDataLst>
          </p:nvPr>
        </p:nvSpPr>
        <p:spPr>
          <a:xfrm>
            <a:off x="1038225" y="3868529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B45309"/>
                </a:solidFill>
                <a:latin typeface="Noto Sans SC"/>
              </a:rPr>
              <a:t>•</a:t>
            </a:r>
            <a:endParaRPr sz="1050" b="1" i="0" u="none">
              <a:solidFill>
                <a:srgbClr val="B45309"/>
              </a:solidFill>
              <a:latin typeface="Noto Sans SC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106805" y="380682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algn="l" rtl="0">
              <a:lnSpc>
                <a:spcPts val="16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sz="1050" b="1">
                <a:solidFill>
                  <a:srgbClr val="475569"/>
                </a:solidFill>
                <a:latin typeface="Noto Sans SC"/>
                <a:sym typeface="Inter" panose="02000503000000020004"/>
              </a:rPr>
              <a:t>在面对知识盲区时，可能会出现“一本正经的胡说八道”，也就是幻觉</a:t>
            </a:r>
            <a:endParaRPr lang="zh-CN" altLang="en-US" sz="1050" b="1">
              <a:solidFill>
                <a:srgbClr val="475569"/>
              </a:solidFill>
              <a:latin typeface="Noto Sans SC"/>
              <a:sym typeface="Inter" panose="02000503000000020004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1107440" y="3415665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algn="l" rtl="0">
              <a:lnSpc>
                <a:spcPts val="16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sz="1050" b="1">
                <a:solidFill>
                  <a:srgbClr val="475569"/>
                </a:solidFill>
                <a:latin typeface="Noto Sans SC"/>
                <a:sym typeface="Inter" panose="02000503000000020004"/>
              </a:rPr>
              <a:t>私有企业内部的文档与数据，也不可能在知识库内</a:t>
            </a:r>
            <a:endParaRPr lang="zh-CN" altLang="en-US" sz="1050" b="1">
              <a:solidFill>
                <a:srgbClr val="475569"/>
              </a:solidFill>
              <a:latin typeface="Noto Sans SC"/>
              <a:sym typeface="Inter" panose="02000503000000020004"/>
            </a:endParaRPr>
          </a:p>
        </p:txBody>
      </p:sp>
      <p:pic>
        <p:nvPicPr>
          <p:cNvPr id="12" name="Picture 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3920" y="2533650"/>
            <a:ext cx="4725670" cy="1799590"/>
          </a:xfrm>
          <a:prstGeom prst="rect">
            <a:avLst/>
          </a:prstGeom>
        </p:spPr>
      </p:pic>
      <p:sp>
        <p:nvSpPr>
          <p:cNvPr id="17" name="TextBox 9"/>
          <p:cNvSpPr txBox="1"/>
          <p:nvPr/>
        </p:nvSpPr>
        <p:spPr>
          <a:xfrm>
            <a:off x="6197242" y="2756366"/>
            <a:ext cx="4589948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500" b="1">
                <a:solidFill>
                  <a:srgbClr val="0F172A"/>
                </a:solidFill>
                <a:latin typeface="Montserrat"/>
                <a:sym typeface="Arial" panose="020B0604020202020204"/>
              </a:rPr>
              <a:t>微调模型代价高</a:t>
            </a:r>
            <a:endParaRPr lang="zh-CN" sz="1500" b="1" i="0" u="none">
              <a:solidFill>
                <a:srgbClr val="0F172A"/>
              </a:solidFill>
              <a:latin typeface="Montserrat"/>
              <a:sym typeface="Arial" panose="020B0604020202020204"/>
            </a:endParaRPr>
          </a:p>
        </p:txBody>
      </p:sp>
      <p:sp>
        <p:nvSpPr>
          <p:cNvPr id="26" name="TextBox 13"/>
          <p:cNvSpPr txBox="1"/>
          <p:nvPr>
            <p:custDataLst>
              <p:tags r:id="rId10"/>
            </p:custDataLst>
          </p:nvPr>
        </p:nvSpPr>
        <p:spPr>
          <a:xfrm>
            <a:off x="6428105" y="3239601"/>
            <a:ext cx="444341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algn="l" rtl="0">
              <a:lnSpc>
                <a:spcPts val="16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sz="1050" b="1">
                <a:solidFill>
                  <a:srgbClr val="475569"/>
                </a:solidFill>
                <a:latin typeface="Noto Sans SC"/>
                <a:sym typeface="Inter" panose="02000503000000020004"/>
              </a:rPr>
              <a:t>为了模型能记住新知识而进行微调，成本极高</a:t>
            </a:r>
            <a:endParaRPr sz="1050" b="1" i="0" u="none" strike="noStrike" cap="none">
              <a:solidFill>
                <a:srgbClr val="475569"/>
              </a:solidFill>
              <a:latin typeface="Noto Sans SC"/>
              <a:sym typeface="Inter" panose="02000503000000020004"/>
            </a:endParaRPr>
          </a:p>
          <a:p>
            <a:pPr marL="0" marR="0" lvl="0" algn="l" rtl="0">
              <a:lnSpc>
                <a:spcPts val="1680"/>
              </a:lnSpc>
              <a:spcBef>
                <a:spcPts val="0"/>
              </a:spcBef>
              <a:buClrTx/>
              <a:buSzTx/>
              <a:buFontTx/>
              <a:buNone/>
            </a:pPr>
            <a:endParaRPr sz="1050" b="1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7" name="TextBox 20"/>
          <p:cNvSpPr txBox="1"/>
          <p:nvPr>
            <p:custDataLst>
              <p:tags r:id="rId11"/>
            </p:custDataLst>
          </p:nvPr>
        </p:nvSpPr>
        <p:spPr>
          <a:xfrm>
            <a:off x="6256655" y="3239601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050" b="1" i="0" u="none">
              <a:solidFill>
                <a:srgbClr val="0284C7"/>
              </a:solidFill>
              <a:latin typeface="Noto Sans SC"/>
            </a:endParaRPr>
          </a:p>
        </p:txBody>
      </p:sp>
      <p:sp>
        <p:nvSpPr>
          <p:cNvPr id="28" name="TextBox 21"/>
          <p:cNvSpPr txBox="1"/>
          <p:nvPr>
            <p:custDataLst>
              <p:tags r:id="rId12"/>
            </p:custDataLst>
          </p:nvPr>
        </p:nvSpPr>
        <p:spPr>
          <a:xfrm>
            <a:off x="6256655" y="3696622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050" b="1" i="0" u="none">
              <a:solidFill>
                <a:srgbClr val="0284C7"/>
              </a:solidFill>
              <a:latin typeface="Noto Sans SC"/>
            </a:endParaRPr>
          </a:p>
        </p:txBody>
      </p:sp>
      <p:sp>
        <p:nvSpPr>
          <p:cNvPr id="31" name="文本框 30"/>
          <p:cNvSpPr txBox="1"/>
          <p:nvPr>
            <p:custDataLst>
              <p:tags r:id="rId13"/>
            </p:custDataLst>
          </p:nvPr>
        </p:nvSpPr>
        <p:spPr>
          <a:xfrm>
            <a:off x="6325870" y="3613150"/>
            <a:ext cx="3617595" cy="349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475569"/>
                </a:solidFill>
                <a:latin typeface="Noto Sans SC"/>
                <a:sym typeface="Inter" panose="02000503000000020004"/>
              </a:rPr>
              <a:t>可能会为了记新知识，把旧的知识给忘了（灾难性遗忘）</a:t>
            </a:r>
            <a:endParaRPr sz="1050" b="1">
              <a:solidFill>
                <a:srgbClr val="475569"/>
              </a:solidFill>
              <a:latin typeface="Noto Sans SC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7677785" y="1171575"/>
            <a:ext cx="6096000" cy="5400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None/>
            </a:pPr>
            <a:r>
              <a:rPr sz="1500" b="1">
                <a:solidFill>
                  <a:srgbClr val="0F172A"/>
                </a:solidFill>
                <a:latin typeface="Montserrat"/>
                <a:sym typeface="+mn-ea"/>
              </a:rPr>
              <a:t>知识库/文档库生成</a:t>
            </a:r>
            <a:endParaRPr sz="1500" b="1">
              <a:solidFill>
                <a:srgbClr val="0F172A"/>
              </a:solidFill>
              <a:latin typeface="Montserrat"/>
              <a:sym typeface="+mn-ea"/>
            </a:endParaRPr>
          </a:p>
          <a:p>
            <a:pPr algn="l">
              <a:buClrTx/>
              <a:buSzTx/>
              <a:buNone/>
            </a:pP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将文档切分为固定大小的块（Chunk），</a:t>
            </a:r>
            <a:endParaRPr sz="1500">
              <a:solidFill>
                <a:srgbClr val="0F172A"/>
              </a:solidFill>
              <a:latin typeface="Montserrat"/>
            </a:endParaRPr>
          </a:p>
          <a:p>
            <a:pPr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但块太小会导致语义断裂，</a:t>
            </a:r>
            <a:endParaRPr sz="1500">
              <a:solidFill>
                <a:srgbClr val="0F172A"/>
              </a:solidFill>
              <a:latin typeface="Montserrat"/>
            </a:endParaRPr>
          </a:p>
          <a:p>
            <a:pPr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而块太大会导致噪声太多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algn="l">
              <a:buClrTx/>
              <a:buSzTx/>
              <a:buNone/>
            </a:pP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algn="l">
              <a:buClrTx/>
              <a:buSzTx/>
              <a:buNone/>
            </a:pPr>
            <a:r>
              <a:rPr sz="1500" b="1">
                <a:solidFill>
                  <a:srgbClr val="0F172A"/>
                </a:solidFill>
                <a:latin typeface="Montserrat"/>
                <a:sym typeface="+mn-ea"/>
              </a:rPr>
              <a:t>常见解决方案</a:t>
            </a:r>
            <a:endParaRPr sz="1500" b="1">
              <a:solidFill>
                <a:srgbClr val="0F172A"/>
              </a:solidFill>
              <a:latin typeface="Montserrat"/>
              <a:sym typeface="+mn-ea"/>
            </a:endParaRPr>
          </a:p>
          <a:p>
            <a:pPr algn="l">
              <a:buClrTx/>
              <a:buSzTx/>
              <a:buNone/>
            </a:pP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（1）父子块块检索：</a:t>
            </a:r>
            <a:endParaRPr sz="1500">
              <a:solidFill>
                <a:srgbClr val="0F172A"/>
              </a:solidFill>
              <a:latin typeface="Montserrat"/>
            </a:endParaRPr>
          </a:p>
          <a:p>
            <a:pPr lvl="1"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将文档切成小块用于检索，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lvl="1"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将这个小块关联的完整父块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lvl="1"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送入大模型中。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algn="l">
              <a:buClrTx/>
              <a:buSzTx/>
              <a:buNone/>
            </a:pP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（2）句子窗口拓展：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lvl="1"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分块大小</a:t>
            </a:r>
            <a:r>
              <a:rPr lang="zh-CN" sz="1500">
                <a:solidFill>
                  <a:srgbClr val="0F172A"/>
                </a:solidFill>
                <a:latin typeface="Montserrat"/>
                <a:sym typeface="+mn-ea"/>
              </a:rPr>
              <a:t>设定为</a:t>
            </a: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一个句子</a:t>
            </a:r>
            <a:r>
              <a:rPr lang="zh-CN" sz="1500">
                <a:solidFill>
                  <a:srgbClr val="0F172A"/>
                </a:solidFill>
                <a:latin typeface="Montserrat"/>
                <a:sym typeface="+mn-ea"/>
              </a:rPr>
              <a:t>。</a:t>
            </a:r>
            <a:endParaRPr lang="zh-CN" sz="1500">
              <a:solidFill>
                <a:srgbClr val="0F172A"/>
              </a:solidFill>
              <a:latin typeface="Montserrat"/>
              <a:sym typeface="+mn-ea"/>
            </a:endParaRPr>
          </a:p>
          <a:p>
            <a:pPr lvl="1"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检索出来</a:t>
            </a:r>
            <a:r>
              <a:rPr lang="zh-CN" sz="1500">
                <a:solidFill>
                  <a:srgbClr val="0F172A"/>
                </a:solidFill>
                <a:latin typeface="Montserrat"/>
                <a:sym typeface="+mn-ea"/>
              </a:rPr>
              <a:t>某个句子</a:t>
            </a: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后，把该句子前后的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lvl="1"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3-5句话一并拿出来送入大模型中</a:t>
            </a:r>
            <a:endParaRPr sz="1500">
              <a:solidFill>
                <a:srgbClr val="0F172A"/>
              </a:solidFill>
              <a:latin typeface="Montserrat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>
              <a:sym typeface="+mn-ea"/>
            </a:endParaRPr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RAG 的</a:t>
            </a:r>
            <a:r>
              <a:rPr lang="zh-CN" sz="2400" b="1" i="0" u="none">
                <a:solidFill>
                  <a:srgbClr val="0F172A"/>
                </a:solidFill>
                <a:latin typeface="Montserrat"/>
              </a:rPr>
              <a:t>做法</a:t>
            </a:r>
            <a:endParaRPr lang="zh-CN"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457950"/>
            <a:ext cx="221753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01: CONTEXT &amp; CHALLENGES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pic>
        <p:nvPicPr>
          <p:cNvPr id="20" name="图片 19"/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1181100"/>
            <a:ext cx="6980555" cy="47885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77785" y="1181100"/>
            <a:ext cx="6096000" cy="6308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500" b="1">
                <a:solidFill>
                  <a:srgbClr val="0F172A"/>
                </a:solidFill>
                <a:latin typeface="Montserrat"/>
                <a:sym typeface="+mn-ea"/>
              </a:rPr>
              <a:t>向量化表示</a:t>
            </a:r>
            <a:endParaRPr sz="1500" b="1">
              <a:solidFill>
                <a:srgbClr val="0F172A"/>
              </a:solidFill>
              <a:latin typeface="Montserrat"/>
              <a:sym typeface="+mn-ea"/>
            </a:endParaRPr>
          </a:p>
          <a:p>
            <a:pPr algn="l">
              <a:buClrTx/>
              <a:buSzTx/>
              <a:buNone/>
            </a:pP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algn="l">
              <a:buClrTx/>
              <a:buSzTx/>
              <a:buNone/>
            </a:pP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将文档</a:t>
            </a:r>
            <a:r>
              <a:rPr lang="en-US" sz="1500">
                <a:solidFill>
                  <a:srgbClr val="0F172A"/>
                </a:solidFill>
                <a:latin typeface="Montserrat"/>
                <a:sym typeface="+mn-ea"/>
              </a:rPr>
              <a:t> Chunk </a:t>
            </a: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以及用户的询问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使用相同嵌入模型生成高维向量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文档块</a:t>
            </a:r>
            <a:r>
              <a:rPr sz="1500" u="sng">
                <a:solidFill>
                  <a:srgbClr val="0F172A"/>
                </a:solidFill>
                <a:latin typeface="Montserrat"/>
                <a:sym typeface="+mn-ea"/>
              </a:rPr>
              <a:t>离线</a:t>
            </a: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处理好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用户的询问</a:t>
            </a:r>
            <a:r>
              <a:rPr sz="1500" u="sng">
                <a:solidFill>
                  <a:srgbClr val="0F172A"/>
                </a:solidFill>
                <a:latin typeface="Montserrat"/>
                <a:sym typeface="+mn-ea"/>
              </a:rPr>
              <a:t>在线</a:t>
            </a:r>
            <a:r>
              <a:rPr lang="zh-CN" sz="1500">
                <a:solidFill>
                  <a:srgbClr val="0F172A"/>
                </a:solidFill>
                <a:latin typeface="Montserrat"/>
                <a:sym typeface="+mn-ea"/>
              </a:rPr>
              <a:t>处理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r>
              <a:rPr sz="1500" b="1">
                <a:solidFill>
                  <a:srgbClr val="0F172A"/>
                </a:solidFill>
                <a:latin typeface="Montserrat"/>
                <a:sym typeface="+mn-ea"/>
              </a:rPr>
              <a:t>相关文档检索</a:t>
            </a:r>
            <a:endParaRPr sz="1500" b="1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（1）计算用户查询和每个文档的向量相似度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pPr indent="457200"/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 从而快速得出候选Chunk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（2）Rerank：使用重排模型再度评估查询和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       候选的相似性得分，最后选出Top-k 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r>
              <a:rPr sz="1500" b="1">
                <a:solidFill>
                  <a:srgbClr val="0F172A"/>
                </a:solidFill>
                <a:latin typeface="Montserrat"/>
                <a:sym typeface="+mn-ea"/>
              </a:rPr>
              <a:t>GraphRAG</a:t>
            </a:r>
            <a:endParaRPr sz="1500" b="1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将文档的</a:t>
            </a:r>
            <a:r>
              <a:rPr sz="1500" u="sng">
                <a:solidFill>
                  <a:srgbClr val="0F172A"/>
                </a:solidFill>
                <a:latin typeface="Montserrat"/>
                <a:sym typeface="+mn-ea"/>
              </a:rPr>
              <a:t>实体、关系和主题</a:t>
            </a: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抽取出来建模知识图谱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查询时</a:t>
            </a: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捞出</a:t>
            </a: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相关实体、邻居</a:t>
            </a:r>
            <a:r>
              <a:rPr lang="zh-CN" sz="1500">
                <a:solidFill>
                  <a:srgbClr val="0F172A"/>
                </a:solidFill>
                <a:latin typeface="Montserrat"/>
                <a:sym typeface="+mn-ea"/>
              </a:rPr>
              <a:t>、关系还有对应</a:t>
            </a:r>
            <a:r>
              <a:rPr sz="1500">
                <a:solidFill>
                  <a:srgbClr val="0F172A"/>
                </a:solidFill>
                <a:latin typeface="Montserrat"/>
                <a:sym typeface="+mn-ea"/>
              </a:rPr>
              <a:t>文本</a:t>
            </a:r>
            <a:endParaRPr sz="1500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 b="1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 b="1">
              <a:solidFill>
                <a:srgbClr val="0F172A"/>
              </a:solidFill>
              <a:latin typeface="Montserrat"/>
              <a:sym typeface="+mn-ea"/>
            </a:endParaRPr>
          </a:p>
          <a:p>
            <a:endParaRPr sz="1500" b="1">
              <a:solidFill>
                <a:srgbClr val="0F172A"/>
              </a:solidFill>
              <a:latin typeface="Montserrat"/>
            </a:endParaRPr>
          </a:p>
          <a:p>
            <a:endParaRPr sz="1400">
              <a:solidFill>
                <a:srgbClr val="475569"/>
              </a:solidFill>
              <a:latin typeface="Noto Sans SC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1" grpId="0"/>
      <p:bldP spid="11" grpId="1"/>
      <p:bldP spid="11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b="1" i="0" u="none">
                <a:solidFill>
                  <a:srgbClr val="0F172A"/>
                </a:solidFill>
                <a:latin typeface="Montserrat"/>
              </a:rPr>
              <a:t> </a:t>
            </a:r>
            <a:r>
              <a:rPr sz="2400" b="1" i="0" u="none">
                <a:solidFill>
                  <a:srgbClr val="0F172A"/>
                </a:solidFill>
                <a:latin typeface="Montserrat"/>
              </a:rPr>
              <a:t>RAG 的核心局限</a:t>
            </a:r>
            <a:endParaRPr lang="en-US"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6457950"/>
            <a:ext cx="2217539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01: CONTEXT &amp; CHALLENGES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pic>
        <p:nvPicPr>
          <p:cNvPr id="41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33650"/>
            <a:ext cx="4720590" cy="1837690"/>
          </a:xfrm>
          <a:prstGeom prst="rect">
            <a:avLst/>
          </a:prstGeom>
        </p:spPr>
      </p:pic>
      <p:sp>
        <p:nvSpPr>
          <p:cNvPr id="42" name="TextBox 9"/>
          <p:cNvSpPr txBox="1"/>
          <p:nvPr/>
        </p:nvSpPr>
        <p:spPr>
          <a:xfrm>
            <a:off x="1015007" y="2756366"/>
            <a:ext cx="4589948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ontserrat"/>
                <a:sym typeface="+mn-ea"/>
              </a:rPr>
              <a:t>零知识复利与算力浪费</a:t>
            </a:r>
            <a:endParaRPr lang="zh-CN" sz="1500" b="1" i="0" u="none">
              <a:solidFill>
                <a:srgbClr val="0F172A"/>
              </a:solidFill>
              <a:latin typeface="Montserrat"/>
              <a:sym typeface="Arial" panose="020B0604020202020204"/>
            </a:endParaRPr>
          </a:p>
        </p:txBody>
      </p:sp>
      <p:sp>
        <p:nvSpPr>
          <p:cNvPr id="43" name="TextBox 13"/>
          <p:cNvSpPr txBox="1"/>
          <p:nvPr>
            <p:custDataLst>
              <p:tags r:id="rId3"/>
            </p:custDataLst>
          </p:nvPr>
        </p:nvSpPr>
        <p:spPr>
          <a:xfrm>
            <a:off x="1209675" y="3114506"/>
            <a:ext cx="4443412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algn="l" rtl="0">
              <a:lnSpc>
                <a:spcPts val="16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sz="1050" b="1">
                <a:solidFill>
                  <a:srgbClr val="475569"/>
                </a:solidFill>
                <a:latin typeface="Noto Sans SC"/>
                <a:sym typeface="+mn-ea"/>
              </a:rPr>
              <a:t>传统 RAG 的每次提问都是单次偶发行为，大模型临时去向量库里</a:t>
            </a:r>
            <a:endParaRPr sz="1050" b="1">
              <a:solidFill>
                <a:srgbClr val="475569"/>
              </a:solidFill>
              <a:latin typeface="Noto Sans SC"/>
              <a:sym typeface="+mn-ea"/>
            </a:endParaRPr>
          </a:p>
          <a:p>
            <a:pPr marL="0" marR="0" lvl="0" algn="l" rtl="0">
              <a:lnSpc>
                <a:spcPts val="168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sz="1050" b="1">
                <a:solidFill>
                  <a:srgbClr val="475569"/>
                </a:solidFill>
                <a:latin typeface="Noto Sans SC"/>
                <a:sym typeface="+mn-ea"/>
              </a:rPr>
              <a:t>检索几个片段，回答完即销毁。</a:t>
            </a:r>
            <a:endParaRPr sz="1050" b="1" i="0" u="none">
              <a:solidFill>
                <a:srgbClr val="475569"/>
              </a:solidFill>
              <a:latin typeface="Noto Sans SC"/>
            </a:endParaRPr>
          </a:p>
          <a:p>
            <a:pPr marL="0" marR="0" lvl="0" algn="l" rtl="0">
              <a:lnSpc>
                <a:spcPts val="1680"/>
              </a:lnSpc>
              <a:spcBef>
                <a:spcPts val="0"/>
              </a:spcBef>
              <a:buClrTx/>
              <a:buSzTx/>
              <a:buFontTx/>
              <a:buNone/>
            </a:pPr>
            <a:endParaRPr sz="1050" b="1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44" name="TextBox 20"/>
          <p:cNvSpPr txBox="1"/>
          <p:nvPr>
            <p:custDataLst>
              <p:tags r:id="rId4"/>
            </p:custDataLst>
          </p:nvPr>
        </p:nvSpPr>
        <p:spPr>
          <a:xfrm>
            <a:off x="1038225" y="3114506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B45309"/>
                </a:solidFill>
                <a:latin typeface="Noto Sans SC"/>
              </a:rPr>
              <a:t>•</a:t>
            </a:r>
            <a:endParaRPr sz="1050" b="1" i="0" u="none">
              <a:solidFill>
                <a:srgbClr val="B45309"/>
              </a:solidFill>
              <a:latin typeface="Noto Sans SC"/>
            </a:endParaRPr>
          </a:p>
        </p:txBody>
      </p:sp>
      <p:sp>
        <p:nvSpPr>
          <p:cNvPr id="46" name="TextBox 22"/>
          <p:cNvSpPr txBox="1"/>
          <p:nvPr>
            <p:custDataLst>
              <p:tags r:id="rId5"/>
            </p:custDataLst>
          </p:nvPr>
        </p:nvSpPr>
        <p:spPr>
          <a:xfrm>
            <a:off x="1038225" y="3693269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B45309"/>
                </a:solidFill>
                <a:latin typeface="Noto Sans SC"/>
              </a:rPr>
              <a:t>•</a:t>
            </a:r>
            <a:endParaRPr sz="1050" b="1" i="0" u="none">
              <a:solidFill>
                <a:srgbClr val="B45309"/>
              </a:solidFill>
              <a:latin typeface="Noto Sans SC"/>
            </a:endParaRPr>
          </a:p>
        </p:txBody>
      </p:sp>
      <p:sp>
        <p:nvSpPr>
          <p:cNvPr id="47" name="文本框 46"/>
          <p:cNvSpPr txBox="1"/>
          <p:nvPr>
            <p:custDataLst>
              <p:tags r:id="rId6"/>
            </p:custDataLst>
          </p:nvPr>
        </p:nvSpPr>
        <p:spPr>
          <a:xfrm>
            <a:off x="1085850" y="36760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ts val="1680"/>
              </a:lnSpc>
            </a:pPr>
            <a:r>
              <a:rPr sz="1050" b="1">
                <a:solidFill>
                  <a:srgbClr val="475569"/>
                </a:solidFill>
                <a:latin typeface="Noto Sans SC"/>
                <a:sym typeface="+mn-ea"/>
              </a:rPr>
              <a:t>相同的逻辑推理与跨领域知识融合，每次问答都要重新消耗算力去生成，</a:t>
            </a:r>
            <a:endParaRPr sz="1050" b="1">
              <a:solidFill>
                <a:srgbClr val="475569"/>
              </a:solidFill>
              <a:latin typeface="Noto Sans SC"/>
              <a:sym typeface="+mn-ea"/>
            </a:endParaRPr>
          </a:p>
          <a:p>
            <a:pPr algn="l">
              <a:lnSpc>
                <a:spcPts val="1680"/>
              </a:lnSpc>
            </a:pPr>
            <a:r>
              <a:rPr sz="1050" b="1">
                <a:solidFill>
                  <a:srgbClr val="475569"/>
                </a:solidFill>
                <a:latin typeface="Noto Sans SC"/>
                <a:sym typeface="+mn-ea"/>
              </a:rPr>
              <a:t>没有在内部完成自我沉淀和修正。</a:t>
            </a:r>
            <a:endParaRPr sz="1050" b="1">
              <a:solidFill>
                <a:srgbClr val="475569"/>
              </a:solidFill>
              <a:latin typeface="Noto Sans SC"/>
              <a:sym typeface="Inter" panose="02000503000000020004"/>
            </a:endParaRPr>
          </a:p>
        </p:txBody>
      </p:sp>
      <p:pic>
        <p:nvPicPr>
          <p:cNvPr id="49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3920" y="2533650"/>
            <a:ext cx="4725670" cy="1799590"/>
          </a:xfrm>
          <a:prstGeom prst="rect">
            <a:avLst/>
          </a:prstGeom>
        </p:spPr>
      </p:pic>
      <p:sp>
        <p:nvSpPr>
          <p:cNvPr id="50" name="TextBox 9"/>
          <p:cNvSpPr txBox="1"/>
          <p:nvPr/>
        </p:nvSpPr>
        <p:spPr>
          <a:xfrm>
            <a:off x="6197242" y="2756366"/>
            <a:ext cx="4589948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475569"/>
                </a:solidFill>
                <a:latin typeface="Noto Sans SC"/>
                <a:sym typeface="+mn-ea"/>
              </a:rPr>
              <a:t>纯黑盒索引无法审计</a:t>
            </a:r>
            <a:endParaRPr lang="zh-CN" sz="1500" b="1" i="0" u="none">
              <a:solidFill>
                <a:srgbClr val="0F172A"/>
              </a:solidFill>
              <a:latin typeface="Montserrat"/>
              <a:sym typeface="Arial" panose="020B0604020202020204"/>
            </a:endParaRPr>
          </a:p>
        </p:txBody>
      </p:sp>
      <p:sp>
        <p:nvSpPr>
          <p:cNvPr id="51" name="TextBox 13"/>
          <p:cNvSpPr txBox="1"/>
          <p:nvPr>
            <p:custDataLst>
              <p:tags r:id="rId8"/>
            </p:custDataLst>
          </p:nvPr>
        </p:nvSpPr>
        <p:spPr>
          <a:xfrm>
            <a:off x="6428105" y="3346281"/>
            <a:ext cx="444341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>
                <a:solidFill>
                  <a:srgbClr val="475569"/>
                </a:solidFill>
                <a:latin typeface="Noto Sans SC"/>
                <a:sym typeface="+mn-ea"/>
              </a:rPr>
              <a:t>向量库里全是不易读的稠密向量。当文档产生冲突、时效过期</a:t>
            </a:r>
            <a:endParaRPr sz="1050" b="1">
              <a:solidFill>
                <a:srgbClr val="475569"/>
              </a:solidFill>
              <a:latin typeface="Noto Sans SC"/>
              <a:sym typeface="+mn-ea"/>
            </a:endParaRPr>
          </a:p>
          <a:p>
            <a:pPr algn="l">
              <a:lnSpc>
                <a:spcPts val="1680"/>
              </a:lnSpc>
            </a:pPr>
            <a:r>
              <a:rPr sz="1050" b="1">
                <a:solidFill>
                  <a:srgbClr val="475569"/>
                </a:solidFill>
                <a:latin typeface="Noto Sans SC"/>
                <a:sym typeface="+mn-ea"/>
              </a:rPr>
              <a:t>或幻觉时，人类专家根本无法直接订正。</a:t>
            </a:r>
            <a:endParaRPr sz="1050" b="1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52" name="TextBox 20"/>
          <p:cNvSpPr txBox="1"/>
          <p:nvPr>
            <p:custDataLst>
              <p:tags r:id="rId9"/>
            </p:custDataLst>
          </p:nvPr>
        </p:nvSpPr>
        <p:spPr>
          <a:xfrm>
            <a:off x="6256655" y="3346281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050" b="1" i="0" u="none">
              <a:solidFill>
                <a:srgbClr val="0284C7"/>
              </a:solidFill>
              <a:latin typeface="Noto Sans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96480"/>
            <a:ext cx="7620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53410" y="3120390"/>
            <a:ext cx="621030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8FAFC"/>
                </a:solidFill>
                <a:latin typeface="Montserrat"/>
              </a:rPr>
              <a:t>第二部分：LLM-Wiki 的范式革命</a:t>
            </a:r>
            <a:endParaRPr sz="3000" b="1" i="0" u="none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82290" y="3834765"/>
            <a:ext cx="6282055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Noto Sans SC"/>
              </a:rPr>
              <a:t>"大模型就是程序员，Wiki 就是代码库。"—— 探寻三层极简架构的底层运行哲学</a:t>
            </a:r>
            <a:endParaRPr sz="1350" b="0" i="0" u="none">
              <a:solidFill>
                <a:srgbClr val="94A3B8"/>
              </a:solidFill>
              <a:latin typeface="Noto Sans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6457950"/>
            <a:ext cx="168324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Montserrat"/>
              </a:rPr>
              <a:t>PART 02: PARADIGM SHIFT</a:t>
            </a:r>
            <a:endParaRPr sz="825" b="0" i="0" u="none">
              <a:solidFill>
                <a:srgbClr val="475569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02000"/>
            <a:ext cx="10668000" cy="22612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42085"/>
            <a:ext cx="3429000" cy="146240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442085"/>
            <a:ext cx="3429000" cy="14624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442085"/>
            <a:ext cx="3429000" cy="1462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450" y="476250"/>
            <a:ext cx="11021377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LLM-Wiki 的三层极简架构与核心流转闭环</a:t>
            </a:r>
            <a:endParaRPr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457950"/>
            <a:ext cx="168324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02: PARADIGM SHIFT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3991" y="3460025"/>
            <a:ext cx="10476778" cy="2457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u="none">
                <a:solidFill>
                  <a:srgbClr val="0F172A"/>
                </a:solidFill>
                <a:latin typeface="Montserrat"/>
              </a:rPr>
              <a:t>知识自生长与纠偏的三大闭环流程：</a:t>
            </a:r>
            <a:endParaRPr sz="16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21740" y="1745615"/>
            <a:ext cx="3180397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tserrat"/>
              </a:rPr>
              <a:t>1. Immutable Raw Sources</a:t>
            </a:r>
            <a:endParaRPr sz="12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8380" y="2089785"/>
            <a:ext cx="30289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1" i="0" u="none">
                <a:solidFill>
                  <a:srgbClr val="475569"/>
                </a:solidFill>
                <a:latin typeface="Noto Sans SC"/>
              </a:rPr>
              <a:t>不变量原始层：</a:t>
            </a:r>
            <a:r>
              <a:rPr sz="975" b="0" i="0" u="none">
                <a:solidFill>
                  <a:srgbClr val="475569"/>
                </a:solidFill>
                <a:latin typeface="Noto Sans SC"/>
              </a:rPr>
              <a:t>只读。存放最原始、绝不被 AI 修改的文件、逐字稿与论文。作为系统从零重建时唯一的绝对“事实之源”。</a:t>
            </a:r>
            <a:endParaRPr sz="975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90135" y="1746885"/>
            <a:ext cx="3180397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tserrat"/>
              </a:rPr>
              <a:t>2. Compiled Wiki Page</a:t>
            </a:r>
            <a:endParaRPr sz="12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37405" y="2089785"/>
            <a:ext cx="3028950" cy="59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1" i="0" u="none">
                <a:solidFill>
                  <a:srgbClr val="475569"/>
                </a:solidFill>
                <a:latin typeface="Noto Sans SC"/>
              </a:rPr>
              <a:t>可编译知识层：</a:t>
            </a:r>
            <a:r>
              <a:rPr sz="975" b="0" i="0" u="none">
                <a:solidFill>
                  <a:srgbClr val="475569"/>
                </a:solidFill>
                <a:latin typeface="Noto Sans SC"/>
              </a:rPr>
              <a:t>动态维护。由 LLM 负责创建和更新的 Markdown 文档。一个概念一个文件，通过双链相互串联，形成网络。</a:t>
            </a:r>
            <a:endParaRPr sz="975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58530" y="1746885"/>
            <a:ext cx="3180397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tserrat"/>
              </a:rPr>
              <a:t>3. Configurable Schema</a:t>
            </a:r>
            <a:endParaRPr sz="12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01025" y="2089785"/>
            <a:ext cx="3028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1" i="0" u="none">
                <a:solidFill>
                  <a:srgbClr val="475569"/>
                </a:solidFill>
                <a:latin typeface="Noto Sans SC"/>
              </a:rPr>
              <a:t>结构规约层：</a:t>
            </a:r>
            <a:r>
              <a:rPr sz="975" b="0" i="0" u="none">
                <a:solidFill>
                  <a:srgbClr val="475569"/>
                </a:solidFill>
                <a:latin typeface="Noto Sans SC"/>
              </a:rPr>
              <a:t>规则控制。通过</a:t>
            </a:r>
            <a:r>
              <a:rPr lang="zh-CN" sz="975" b="0" i="0" u="none">
                <a:solidFill>
                  <a:srgbClr val="475569"/>
                </a:solidFill>
                <a:latin typeface="Noto Sans SC"/>
              </a:rPr>
              <a:t>约束好工作流</a:t>
            </a:r>
            <a:r>
              <a:rPr sz="975" b="0" i="0" u="none">
                <a:solidFill>
                  <a:srgbClr val="475569"/>
                </a:solidFill>
                <a:latin typeface="Noto Sans SC"/>
              </a:rPr>
              <a:t>，保证 AI Agent 每次写入与纠偏不偏离体系范式。</a:t>
            </a:r>
            <a:endParaRPr sz="975" b="0" i="0" u="none">
              <a:solidFill>
                <a:srgbClr val="475569"/>
              </a:solidFill>
              <a:latin typeface="Noto Sans SC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335" y="3437255"/>
            <a:ext cx="24384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0125" y="3949610"/>
            <a:ext cx="3270200" cy="1032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u="none">
                <a:solidFill>
                  <a:srgbClr val="0F172A"/>
                </a:solidFill>
                <a:latin typeface="Montserrat"/>
              </a:rPr>
              <a:t>  </a:t>
            </a:r>
            <a:r>
              <a:rPr sz="1200" b="1" i="0" u="none">
                <a:solidFill>
                  <a:srgbClr val="0F172A"/>
                </a:solidFill>
                <a:latin typeface="Montserrat"/>
              </a:rPr>
              <a:t>A. Ingest (编译式吸收):</a:t>
            </a:r>
            <a:r>
              <a:rPr sz="1200" b="1">
                <a:solidFill>
                  <a:srgbClr val="0F172A"/>
                </a:solidFill>
                <a:latin typeface="Montserrat"/>
              </a:rPr>
              <a:t>
</a:t>
            </a:r>
            <a:endParaRPr sz="1200" b="1">
              <a:solidFill>
                <a:srgbClr val="0F172A"/>
              </a:solidFill>
              <a:latin typeface="Montserrat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>
                <a:solidFill>
                  <a:srgbClr val="475569"/>
                </a:solidFill>
                <a:latin typeface="Noto Sans SC"/>
              </a:rPr>
              <a:t> </a:t>
            </a:r>
            <a:r>
              <a:rPr lang="en-US" sz="900" b="0" i="0" u="none">
                <a:solidFill>
                  <a:srgbClr val="475569"/>
                </a:solidFill>
                <a:latin typeface="Noto Sans SC"/>
              </a:rPr>
              <a:t>   </a:t>
            </a:r>
            <a:r>
              <a:rPr lang="en-US" sz="900"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读入新文件时，大模型在阅读理解的基础上，</a:t>
            </a:r>
            <a:endParaRPr lang="en-US" sz="900"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  提取实体属性、寻找与已有知识的连接，增量</a:t>
            </a:r>
            <a:endParaRPr lang="en-US" sz="900"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  合并或更新对应实体页面。</a:t>
            </a:r>
            <a:endParaRPr sz="900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32275" y="3946435"/>
            <a:ext cx="3270200" cy="1170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tserrat"/>
              </a:rPr>
              <a:t>B. Query &amp; Write-back (问答反哺):</a:t>
            </a:r>
            <a:r>
              <a:rPr sz="1200" b="1">
                <a:solidFill>
                  <a:srgbClr val="0F172A"/>
                </a:solidFill>
                <a:latin typeface="Montserrat"/>
              </a:rPr>
              <a:t>
</a:t>
            </a:r>
            <a:endParaRPr sz="1200" b="1">
              <a:solidFill>
                <a:srgbClr val="0F172A"/>
              </a:solidFill>
              <a:latin typeface="Montserrat"/>
            </a:endParaRP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900" b="0" i="0" u="none">
                <a:latin typeface="Inter" panose="02000503000000020004"/>
                <a:ea typeface="Inter" panose="02000503000000020004"/>
                <a:cs typeface="Inter" panose="02000503000000020004"/>
              </a:rPr>
              <a:t>    </a:t>
            </a:r>
            <a:r>
              <a:rPr lang="en-US" sz="900"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每次人类提问，LLM 组合分析后得出的</a:t>
            </a:r>
            <a:endParaRPr lang="en-US" sz="900"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900"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 全新对比、因果推导，生成新词条沉淀到</a:t>
            </a:r>
            <a:endParaRPr lang="en-US" sz="900"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900"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 Wiki，促进知识复利。</a:t>
            </a:r>
            <a:endParaRPr lang="en-US" sz="900" b="0" i="0" u="none" strike="noStrike" cap="none">
              <a:solidFill>
                <a:schemeClr val="tx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/>
            <a:endParaRPr sz="900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86675" y="3946435"/>
            <a:ext cx="3270349" cy="1125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Montserrat"/>
              </a:rPr>
              <a:t>C. Lint &amp; Purge (系统自检):</a:t>
            </a:r>
            <a:r>
              <a:rPr sz="1200" b="1">
                <a:solidFill>
                  <a:srgbClr val="0F172A"/>
                </a:solidFill>
                <a:latin typeface="Montserrat"/>
              </a:rPr>
              <a:t>
</a:t>
            </a:r>
            <a:r>
              <a:rPr sz="900" b="0" i="0" u="none">
                <a:solidFill>
                  <a:srgbClr val="475569"/>
                </a:solidFill>
                <a:latin typeface="Noto Sans SC"/>
              </a:rPr>
              <a:t> </a:t>
            </a:r>
            <a:endParaRPr lang="en-US" sz="900" b="0" i="0" u="none">
              <a:latin typeface="Inter" panose="02000503000000020004"/>
              <a:ea typeface="Inter" panose="02000503000000020004"/>
              <a:cs typeface="Inter" panose="02000503000000020004"/>
            </a:endParaRP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900"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后台定期启动巡检任务，LLM 全文扫描 Wiki 的</a:t>
            </a:r>
            <a:endParaRPr lang="en-US" sz="900"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900"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不一致处。修复概念冲突、更新时效，打补丁并</a:t>
            </a:r>
            <a:endParaRPr lang="en-US" sz="900"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sz="900"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维护反向链接完整性。</a:t>
            </a:r>
            <a:endParaRPr lang="en-US" sz="900" b="0" i="0" u="none" strike="noStrike" cap="none">
              <a:solidFill>
                <a:schemeClr val="tx1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/>
            <a:endParaRPr sz="900" b="0" i="0" u="none">
              <a:solidFill>
                <a:srgbClr val="475569"/>
              </a:solidFill>
              <a:latin typeface="Noto Sans SC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1689735"/>
            <a:ext cx="177849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525" y="1689735"/>
            <a:ext cx="177849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1025" y="1689735"/>
            <a:ext cx="177849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LLM-Wiki </a:t>
            </a:r>
            <a:r>
              <a:rPr lang="zh-CN" sz="2400" b="1" i="0" u="none">
                <a:solidFill>
                  <a:srgbClr val="0F172A"/>
                </a:solidFill>
                <a:latin typeface="Montserrat"/>
              </a:rPr>
              <a:t>与</a:t>
            </a:r>
            <a:r>
              <a:rPr lang="en-US" altLang="zh-CN" sz="2400" b="1" i="0" u="none">
                <a:solidFill>
                  <a:srgbClr val="0F172A"/>
                </a:solidFill>
                <a:latin typeface="Montserrat"/>
              </a:rPr>
              <a:t> RAG </a:t>
            </a:r>
            <a:r>
              <a:rPr lang="zh-CN" altLang="en-US" sz="2400" b="1" i="0" u="none">
                <a:solidFill>
                  <a:srgbClr val="0F172A"/>
                </a:solidFill>
                <a:latin typeface="Montserrat"/>
              </a:rPr>
              <a:t>的对比</a:t>
            </a:r>
            <a:endParaRPr lang="zh-CN" altLang="en-US"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6457950"/>
            <a:ext cx="168324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02: PARADIGM SHIFT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graphicFrame>
        <p:nvGraphicFramePr>
          <p:cNvPr id="146" name="Google Shape;146;p19"/>
          <p:cNvGraphicFramePr/>
          <p:nvPr/>
        </p:nvGraphicFramePr>
        <p:xfrm>
          <a:off x="766445" y="1738381"/>
          <a:ext cx="10668000" cy="3333450"/>
        </p:xfrm>
        <a:graphic>
          <a:graphicData uri="http://schemas.openxmlformats.org/drawingml/2006/table">
            <a:tbl>
              <a:tblPr firstRow="1" bandRow="1">
                <a:noFill/>
                <a:tableStyleId>{A35790D9-6039-440E-89DF-0CAE878B989A}</a:tableStyleId>
              </a:tblPr>
              <a:tblGrid>
                <a:gridCol w="1678925"/>
                <a:gridCol w="4510975"/>
                <a:gridCol w="4478100"/>
              </a:tblGrid>
              <a:tr h="55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比较维度</a:t>
                      </a:r>
                      <a:endParaRPr lang="en-US" sz="1350" b="1" i="0" u="none" strike="noStrike" cap="none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C1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传统 RAG 模式</a:t>
                      </a:r>
                      <a:endParaRPr lang="en-US" sz="1350" b="1" i="0" u="none" strike="noStrike" cap="none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C1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LLM-Wiki 模式</a:t>
                      </a:r>
                      <a:endParaRPr lang="en-US" sz="1350" b="1" i="0" u="none" strike="noStrike" cap="none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C158"/>
                    </a:solidFill>
                  </a:tcPr>
                </a:tc>
              </a:tr>
              <a:tr h="55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设计哲学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单次查找 / “现场翻书”的临时行为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持续更新 / “知识库编译”的累积模型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知识状态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静态且离散（Raw Chunks）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动态自生长、相互高度链接的知识图网络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人机交互方式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一问一答（一次性对话记录，阅后即焚）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问答中诞生的新洞察会自动写回 Wiki 沉淀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可编辑性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极低（只能更新原始文档重新跑 Embedding）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高（人类可直接编辑可读的 Markdown 文件）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5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核心算力开销</a:t>
                      </a:r>
                      <a:endParaRPr lang="en-US" sz="1200" b="1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Query 时（在线检索的多轮 LLM 读取开销）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Ingest 时（前期对新知识的分析与重写开销）</a:t>
                      </a:r>
                      <a:endParaRPr lang="en-US" sz="1200" b="0" i="0" u="none" strike="noStrike" cap="none">
                        <a:solidFill>
                          <a:schemeClr val="tx1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19"/>
          <p:cNvSpPr/>
          <p:nvPr/>
        </p:nvSpPr>
        <p:spPr>
          <a:xfrm>
            <a:off x="766445" y="2267019"/>
            <a:ext cx="167893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2445375" y="2267019"/>
            <a:ext cx="451098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6956355" y="2267019"/>
            <a:ext cx="4478089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766445" y="2825124"/>
            <a:ext cx="167893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2445375" y="2825124"/>
            <a:ext cx="451098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956355" y="2825124"/>
            <a:ext cx="4478089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766445" y="3383230"/>
            <a:ext cx="167893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2445375" y="3383230"/>
            <a:ext cx="451098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956355" y="3383230"/>
            <a:ext cx="4478089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66445" y="3941335"/>
            <a:ext cx="167893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445375" y="3941335"/>
            <a:ext cx="451098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6956355" y="3941335"/>
            <a:ext cx="4478089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66445" y="4499441"/>
            <a:ext cx="167893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445375" y="4499441"/>
            <a:ext cx="451098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6956355" y="4499441"/>
            <a:ext cx="4478089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66445" y="5057546"/>
            <a:ext cx="167893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445375" y="5057546"/>
            <a:ext cx="4510980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6956355" y="5057546"/>
            <a:ext cx="4478089" cy="9525"/>
          </a:xfrm>
          <a:prstGeom prst="rect">
            <a:avLst/>
          </a:prstGeom>
          <a:solidFill>
            <a:srgbClr val="E5C1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9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8395" y="1809115"/>
            <a:ext cx="4725670" cy="389128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09154"/>
            <a:ext cx="5167312" cy="389111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25" y="4692699"/>
            <a:ext cx="4614862" cy="769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项目 A: karpathy-llm-wiki (纯</a:t>
            </a:r>
            <a:r>
              <a:rPr lang="en-US" sz="2400" b="1" i="0" u="none">
                <a:solidFill>
                  <a:srgbClr val="0F172A"/>
                </a:solidFill>
                <a:latin typeface="Montserrat"/>
              </a:rPr>
              <a:t>SKILL.md</a:t>
            </a:r>
            <a:r>
              <a:rPr sz="2400" b="1" i="0" u="none">
                <a:solidFill>
                  <a:srgbClr val="0F172A"/>
                </a:solidFill>
                <a:latin typeface="Montserrat"/>
              </a:rPr>
              <a:t>驱动极简方案)</a:t>
            </a:r>
            <a:endParaRPr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57950"/>
            <a:ext cx="247069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03: THREE PROJECTS DEEP DIVE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2075854"/>
            <a:ext cx="1232594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1707" y="2437804"/>
            <a:ext cx="458994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ontserrat"/>
              </a:rPr>
              <a:t>编译流转：读 raw/ → 写 wiki/</a:t>
            </a:r>
            <a:endParaRPr sz="1500" b="1" i="0" u="none">
              <a:solidFill>
                <a:srgbClr val="0F172A"/>
              </a:solidFill>
              <a:latin typeface="Montserrat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2050" y="4845099"/>
            <a:ext cx="1077366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62050" y="5035599"/>
            <a:ext cx="4367212" cy="3027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0" i="0" u="none">
                <a:solidFill>
                  <a:srgbClr val="64748B"/>
                </a:solidFill>
                <a:latin typeface="Noto Sans SC"/>
              </a:rPr>
              <a:t>系统没有数据库与后端。全部依靠 187 行的 </a:t>
            </a:r>
            <a:r>
              <a:rPr sz="825" b="0" i="0" u="none">
                <a:solidFill>
                  <a:srgbClr val="64748B"/>
                </a:solidFill>
                <a:latin typeface="Noto Sans SC"/>
              </a:rPr>
              <a:t>SKILL.md</a:t>
            </a:r>
            <a:r>
              <a:rPr sz="825" b="0" i="0" u="none">
                <a:solidFill>
                  <a:srgbClr val="64748B"/>
                </a:solidFill>
                <a:latin typeface="Noto Sans SC"/>
              </a:rPr>
              <a:t> 指令卡，大模型直接读写文件夹来保持系统的自生长和同步。</a:t>
            </a:r>
            <a:endParaRPr sz="825" b="0" i="0" u="none">
              <a:solidFill>
                <a:srgbClr val="64748B"/>
              </a:solidFill>
              <a:latin typeface="Noto Sans SC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2471142"/>
            <a:ext cx="148232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1209675" y="2809279"/>
            <a:ext cx="4443412" cy="4360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475569"/>
                </a:solidFill>
                <a:latin typeface="Noto Sans SC"/>
              </a:rPr>
              <a:t>Step 1: Fetch 无损暂存：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 将网页、逐字稿等放入 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raw/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 下，重命名为标准化文件名，禁止任何修改，作为底层唯一事实源。</a:t>
            </a:r>
            <a:endParaRPr sz="1050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1209675" y="3321546"/>
            <a:ext cx="4443412" cy="649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475569"/>
                </a:solidFill>
                <a:latin typeface="Noto Sans SC"/>
              </a:rPr>
              <a:t>Step 2: Compile 自主决策：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 LLM 读源文件并检索 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wiki/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。若论点一致则合并至已有页面、若全新概念则建新页、跨主题则放于最相关目录并加 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See Also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。</a:t>
            </a:r>
            <a:endParaRPr sz="1050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1" name="TextBox 20"/>
          <p:cNvSpPr txBox="1"/>
          <p:nvPr>
            <p:custDataLst>
              <p:tags r:id="rId10"/>
            </p:custDataLst>
          </p:nvPr>
        </p:nvSpPr>
        <p:spPr>
          <a:xfrm>
            <a:off x="1209675" y="4047083"/>
            <a:ext cx="444341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475569"/>
                </a:solidFill>
                <a:latin typeface="Noto Sans SC"/>
              </a:rPr>
              <a:t>Step 3: Cascade 级联更新：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 更新主页面后，自动扫描并修改其他关联文件、同步更新全局目录（index.md）与操作日志（log.md）。</a:t>
            </a:r>
            <a:endParaRPr sz="1050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6" name="TextBox 25"/>
          <p:cNvSpPr txBox="1"/>
          <p:nvPr>
            <p:custDataLst>
              <p:tags r:id="rId11"/>
            </p:custDataLst>
          </p:nvPr>
        </p:nvSpPr>
        <p:spPr>
          <a:xfrm>
            <a:off x="1038225" y="2809279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B45309"/>
                </a:solidFill>
                <a:latin typeface="Noto Sans SC"/>
              </a:rPr>
              <a:t>•</a:t>
            </a:r>
            <a:endParaRPr sz="1050" b="1" i="0" u="none">
              <a:solidFill>
                <a:srgbClr val="B45309"/>
              </a:solidFill>
              <a:latin typeface="Noto Sans SC"/>
            </a:endParaRPr>
          </a:p>
        </p:txBody>
      </p:sp>
      <p:sp>
        <p:nvSpPr>
          <p:cNvPr id="27" name="TextBox 26"/>
          <p:cNvSpPr txBox="1"/>
          <p:nvPr>
            <p:custDataLst>
              <p:tags r:id="rId12"/>
            </p:custDataLst>
          </p:nvPr>
        </p:nvSpPr>
        <p:spPr>
          <a:xfrm>
            <a:off x="1038225" y="3321546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B45309"/>
                </a:solidFill>
                <a:latin typeface="Noto Sans SC"/>
              </a:rPr>
              <a:t>•</a:t>
            </a:r>
            <a:endParaRPr sz="1050" b="1" i="0" u="none">
              <a:solidFill>
                <a:srgbClr val="B45309"/>
              </a:solidFill>
              <a:latin typeface="Noto Sans SC"/>
            </a:endParaRPr>
          </a:p>
        </p:txBody>
      </p:sp>
      <p:sp>
        <p:nvSpPr>
          <p:cNvPr id="28" name="TextBox 27"/>
          <p:cNvSpPr txBox="1"/>
          <p:nvPr>
            <p:custDataLst>
              <p:tags r:id="rId13"/>
            </p:custDataLst>
          </p:nvPr>
        </p:nvSpPr>
        <p:spPr>
          <a:xfrm>
            <a:off x="1038225" y="4047083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B45309"/>
                </a:solidFill>
                <a:latin typeface="Noto Sans SC"/>
              </a:rPr>
              <a:t>•</a:t>
            </a:r>
            <a:endParaRPr sz="1050" b="1" i="0" u="none">
              <a:solidFill>
                <a:srgbClr val="B45309"/>
              </a:solidFill>
              <a:latin typeface="Noto Sans SC"/>
            </a:endParaRPr>
          </a:p>
        </p:txBody>
      </p:sp>
      <p:sp>
        <p:nvSpPr>
          <p:cNvPr id="32" name="Text 4"/>
          <p:cNvSpPr/>
          <p:nvPr/>
        </p:nvSpPr>
        <p:spPr>
          <a:xfrm>
            <a:off x="6500495" y="2075815"/>
            <a:ext cx="4772660" cy="3230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📁 raw/           ← 文档，AI 只读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└─ &lt;topic&gt;/          ← </a:t>
            </a:r>
            <a:r>
              <a:rPr lang="zh-CN" altLang="en-US" sz="1100" dirty="0">
                <a:solidFill>
                  <a:schemeClr val="tx1"/>
                </a:solidFill>
                <a:latin typeface="Consolas" panose="020B0609020204030204" pitchFamily="34" charset="0"/>
                <a:ea typeface="宋体" panose="02010600030101010101" pitchFamily="2" charset="-122"/>
                <a:cs typeface="Consolas" panose="020B0609020204030204" pitchFamily="34" charset="-120"/>
              </a:rPr>
              <a:t>文档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主题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└─ 2026-07-paper.md  </a:t>
            </a:r>
            <a:r>
              <a:rPr lang="en-US" sz="110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← </a:t>
            </a:r>
            <a:r>
              <a:rPr lang="zh-CN" altLang="en-US" sz="1100" dirty="0">
                <a:latin typeface="Consolas" panose="020B0609020204030204" pitchFamily="34" charset="0"/>
                <a:ea typeface="宋体" panose="02010600030101010101" pitchFamily="2" charset="-122"/>
                <a:cs typeface="Consolas" panose="020B0609020204030204" pitchFamily="34" charset="-120"/>
                <a:sym typeface="+mn-ea"/>
              </a:rPr>
              <a:t>原始文档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📁 wiki/           ← AI 维护的知识 Wiki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├─ index.md      ← 全局目录（导航入口）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├─ log.md        ← 操作日志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└─ </a:t>
            </a:r>
            <a:r>
              <a:rPr lang="en-US" sz="110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&lt;topic&gt;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      </a:t>
            </a:r>
            <a:r>
              <a:rPr lang="en-US" sz="1100" dirty="0"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← </a:t>
            </a:r>
            <a:r>
              <a:rPr lang="zh-CN" altLang="en-US" sz="1100" dirty="0">
                <a:latin typeface="Consolas" panose="020B0609020204030204" pitchFamily="34" charset="0"/>
                <a:ea typeface="宋体" panose="02010600030101010101" pitchFamily="2" charset="-122"/>
                <a:cs typeface="Consolas" panose="020B0609020204030204" pitchFamily="34" charset="-120"/>
                <a:sym typeface="+mn-ea"/>
              </a:rPr>
              <a:t>知识主题</a:t>
            </a: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├─ transformer.md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└─ attention.md</a:t>
            </a: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100" dirty="0">
              <a:solidFill>
                <a:schemeClr val="tx1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35" name="流程图: 终止 34"/>
          <p:cNvSpPr/>
          <p:nvPr/>
        </p:nvSpPr>
        <p:spPr>
          <a:xfrm>
            <a:off x="6500495" y="2075815"/>
            <a:ext cx="1181100" cy="180975"/>
          </a:xfrm>
          <a:prstGeom prst="flowChartTerminator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 sz="800"/>
          </a:p>
        </p:txBody>
      </p:sp>
      <p:sp>
        <p:nvSpPr>
          <p:cNvPr id="36" name="文本框 35"/>
          <p:cNvSpPr txBox="1"/>
          <p:nvPr/>
        </p:nvSpPr>
        <p:spPr>
          <a:xfrm>
            <a:off x="6614795" y="2049780"/>
            <a:ext cx="4064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900" b="1">
                <a:solidFill>
                  <a:srgbClr val="007CC3"/>
                </a:solidFill>
                <a:latin typeface="微软雅黑" panose="020B0503020204020204" charset="-122"/>
                <a:ea typeface="微软雅黑" panose="020B0503020204020204" charset="-122"/>
              </a:rPr>
              <a:t>文件目录示例</a:t>
            </a:r>
            <a:endParaRPr sz="900" b="1">
              <a:solidFill>
                <a:srgbClr val="007CC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矩形 36"/>
          <p:cNvSpPr/>
          <p:nvPr>
            <p:custDataLst>
              <p:tags r:id="rId14"/>
            </p:custDataLst>
          </p:nvPr>
        </p:nvSpPr>
        <p:spPr>
          <a:xfrm>
            <a:off x="933450" y="2809240"/>
            <a:ext cx="4937760" cy="4362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819150" y="3351530"/>
            <a:ext cx="5109210" cy="223583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sz="1600" b="1">
                <a:solidFill>
                  <a:srgbClr val="475569"/>
                </a:solidFill>
                <a:latin typeface="Noto Sans SC"/>
              </a:rPr>
              <a:t>Prompt</a:t>
            </a:r>
            <a:r>
              <a:rPr lang="zh-CN" altLang="en-US" sz="1600" b="1">
                <a:solidFill>
                  <a:srgbClr val="475569"/>
                </a:solidFill>
                <a:latin typeface="Noto Sans SC"/>
              </a:rPr>
              <a:t>概述</a:t>
            </a:r>
            <a:endParaRPr lang="zh-CN" altLang="en-US" sz="1600" b="1">
              <a:solidFill>
                <a:srgbClr val="475569"/>
              </a:solidFill>
              <a:latin typeface="Noto Sans SC"/>
            </a:endParaRPr>
          </a:p>
          <a:p>
            <a:endParaRPr sz="1600">
              <a:solidFill>
                <a:srgbClr val="475569"/>
              </a:solidFill>
              <a:latin typeface="Noto Sans SC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拿到源内容</a:t>
            </a:r>
            <a:r>
              <a:rPr 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</a:t>
            </a: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存到 raw/&lt;主题&gt;/YYYY-MM-DD-标题.md。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文件名用 kebab-case</a:t>
            </a:r>
            <a:r>
              <a:rPr 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，不要超过 60 个字符。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记录来源 URL、抓取日期、发布日期。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保持原文，不要改写观点。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/>
          <p:nvPr>
            <p:custDataLst>
              <p:tags r:id="rId15"/>
            </p:custDataLst>
          </p:nvPr>
        </p:nvSpPr>
        <p:spPr>
          <a:xfrm>
            <a:off x="933450" y="3351530"/>
            <a:ext cx="4937760" cy="6038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6163945" y="1864360"/>
            <a:ext cx="5109210" cy="383603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sz="1600" b="1">
                <a:solidFill>
                  <a:srgbClr val="475569"/>
                </a:solidFill>
                <a:latin typeface="Noto Sans SC"/>
              </a:rPr>
              <a:t>Prompt</a:t>
            </a:r>
            <a:r>
              <a:rPr lang="zh-CN" altLang="en-US" sz="1600" b="1">
                <a:solidFill>
                  <a:srgbClr val="475569"/>
                </a:solidFill>
                <a:latin typeface="Noto Sans SC"/>
              </a:rPr>
              <a:t>概述</a:t>
            </a:r>
            <a:endParaRPr lang="zh-CN" altLang="en-US" sz="1600" b="1">
              <a:solidFill>
                <a:srgbClr val="475569"/>
              </a:solidFill>
              <a:latin typeface="Noto Sans SC"/>
            </a:endParaRPr>
          </a:p>
          <a:p>
            <a:endParaRPr sz="1600">
              <a:solidFill>
                <a:srgbClr val="475569"/>
              </a:solidFill>
              <a:latin typeface="Noto Sans SC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 raw/ 下的源文件，判断该创建新</a:t>
            </a:r>
            <a:r>
              <a:rPr 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Wiki </a:t>
            </a: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页面还是合并到已有页面：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如果新内容和已有</a:t>
            </a:r>
            <a:r>
              <a:rPr 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Wiki </a:t>
            </a: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的核心论点一样 → 合并进去，更新 Sources 字段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如果是全新概念 → 创建新页面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等等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检查矛盾：如果新内容和已有内容冲突，标注出来，不要悄悄覆盖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/>
          <p:nvPr>
            <p:custDataLst>
              <p:tags r:id="rId16"/>
            </p:custDataLst>
          </p:nvPr>
        </p:nvSpPr>
        <p:spPr>
          <a:xfrm>
            <a:off x="934085" y="3981450"/>
            <a:ext cx="4937760" cy="6038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  <p:bldP spid="39" grpId="0" bldLvl="0" animBg="1"/>
      <p:bldP spid="39" grpId="1" animBg="1"/>
      <p:bldP spid="37" grpId="2" animBg="1"/>
      <p:bldP spid="39" grpId="2" bldLvl="0" animBg="1"/>
      <p:bldP spid="40" grpId="0" animBg="1"/>
      <p:bldP spid="41" grpId="0" bldLvl="0" animBg="1"/>
      <p:bldP spid="40" grpId="1" animBg="1"/>
      <p:bldP spid="41" grpId="1" bldLvl="0" animBg="1"/>
      <p:bldP spid="42" grpId="0" animBg="1"/>
      <p:bldP spid="42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9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661160"/>
            <a:ext cx="5224145" cy="324866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项目 A: karpathy-llm-wiki (纯</a:t>
            </a:r>
            <a:r>
              <a:rPr lang="en-US" sz="2400" b="1" i="0" u="none">
                <a:solidFill>
                  <a:srgbClr val="0F172A"/>
                </a:solidFill>
                <a:latin typeface="Montserrat"/>
              </a:rPr>
              <a:t>SKILL.md</a:t>
            </a:r>
            <a:r>
              <a:rPr sz="2400" b="1" i="0" u="none">
                <a:solidFill>
                  <a:srgbClr val="0F172A"/>
                </a:solidFill>
                <a:latin typeface="Montserrat"/>
              </a:rPr>
              <a:t>驱动极简方案)</a:t>
            </a:r>
            <a:endParaRPr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57950"/>
            <a:ext cx="247069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03: THREE PROJECTS DEEP DIVE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17" y="1927899"/>
            <a:ext cx="819298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6000" y="2261274"/>
            <a:ext cx="4589948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ontserrat"/>
              </a:rPr>
              <a:t>检索与体检：确定性自修 + 矛盾报告</a:t>
            </a:r>
            <a:endParaRPr sz="1500" b="1" i="0" u="none">
              <a:solidFill>
                <a:srgbClr val="0F172A"/>
              </a:solidFill>
              <a:latin typeface="Montserrat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517" y="2294612"/>
            <a:ext cx="148232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>
            <p:custDataLst>
              <p:tags r:id="rId5"/>
            </p:custDataLst>
          </p:nvPr>
        </p:nvSpPr>
        <p:spPr>
          <a:xfrm>
            <a:off x="1263967" y="2632749"/>
            <a:ext cx="444341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475569"/>
                </a:solidFill>
                <a:latin typeface="Noto Sans SC"/>
              </a:rPr>
              <a:t>Query - 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用户提问时，模型自行先读 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index.md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，锁定相关概念后，直接加载相关 Wiki 全文给出回答。</a:t>
            </a:r>
            <a:endParaRPr sz="1050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4" name="TextBox 23"/>
          <p:cNvSpPr txBox="1"/>
          <p:nvPr>
            <p:custDataLst>
              <p:tags r:id="rId6"/>
            </p:custDataLst>
          </p:nvPr>
        </p:nvSpPr>
        <p:spPr>
          <a:xfrm>
            <a:off x="1263967" y="3358286"/>
            <a:ext cx="444341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475569"/>
                </a:solidFill>
                <a:latin typeface="Noto Sans SC"/>
              </a:rPr>
              <a:t>Lint - 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后台强制对双链进行索引一致性对齐。检测到死链接时，启发式匹配 wiki 内同名概念，一旦找到唯一匹配，后台自动修正其路径。</a:t>
            </a:r>
            <a:endParaRPr sz="1050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5" name="TextBox 24"/>
          <p:cNvSpPr txBox="1"/>
          <p:nvPr>
            <p:custDataLst>
              <p:tags r:id="rId7"/>
            </p:custDataLst>
          </p:nvPr>
        </p:nvSpPr>
        <p:spPr>
          <a:xfrm>
            <a:off x="1263967" y="4074298"/>
            <a:ext cx="444341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475569"/>
                </a:solidFill>
                <a:latin typeface="Noto Sans SC"/>
              </a:rPr>
              <a:t>Lint -</a:t>
            </a:r>
            <a:r>
              <a:rPr sz="1050" i="0" u="none">
                <a:solidFill>
                  <a:srgbClr val="475569"/>
                </a:solidFill>
                <a:latin typeface="Noto Sans SC"/>
              </a:rPr>
              <a:t> </a:t>
            </a:r>
            <a:r>
              <a:rPr lang="zh-CN" sz="1050" i="0" u="none">
                <a:solidFill>
                  <a:srgbClr val="475569"/>
                </a:solidFill>
                <a:latin typeface="Noto Sans SC"/>
              </a:rPr>
              <a:t>对于矛盾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仅报告。高亮标记因外部多篇源文献引发的矛盾（例如 A 页面说 BERT 诞生于 2018，B 说是 2019），上报人类专家审核。</a:t>
            </a:r>
            <a:endParaRPr sz="1050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9" name="TextBox 28"/>
          <p:cNvSpPr txBox="1"/>
          <p:nvPr>
            <p:custDataLst>
              <p:tags r:id="rId8"/>
            </p:custDataLst>
          </p:nvPr>
        </p:nvSpPr>
        <p:spPr>
          <a:xfrm>
            <a:off x="1092517" y="2632749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050" b="1" i="0" u="none">
              <a:solidFill>
                <a:srgbClr val="0284C7"/>
              </a:solidFill>
              <a:latin typeface="Noto Sans SC"/>
            </a:endParaRPr>
          </a:p>
        </p:txBody>
      </p:sp>
      <p:sp>
        <p:nvSpPr>
          <p:cNvPr id="30" name="TextBox 29"/>
          <p:cNvSpPr txBox="1"/>
          <p:nvPr>
            <p:custDataLst>
              <p:tags r:id="rId9"/>
            </p:custDataLst>
          </p:nvPr>
        </p:nvSpPr>
        <p:spPr>
          <a:xfrm>
            <a:off x="1092517" y="3358286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050" b="1" i="0" u="none">
              <a:solidFill>
                <a:srgbClr val="0284C7"/>
              </a:solidFill>
              <a:latin typeface="Noto Sans SC"/>
            </a:endParaRPr>
          </a:p>
        </p:txBody>
      </p:sp>
      <p:sp>
        <p:nvSpPr>
          <p:cNvPr id="31" name="TextBox 30"/>
          <p:cNvSpPr txBox="1"/>
          <p:nvPr>
            <p:custDataLst>
              <p:tags r:id="rId10"/>
            </p:custDataLst>
          </p:nvPr>
        </p:nvSpPr>
        <p:spPr>
          <a:xfrm>
            <a:off x="1092517" y="4074298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050" b="1" i="0" u="none">
              <a:solidFill>
                <a:srgbClr val="0284C7"/>
              </a:solidFill>
              <a:latin typeface="Noto Sans SC"/>
            </a:endParaRPr>
          </a:p>
        </p:txBody>
      </p:sp>
      <p:sp>
        <p:nvSpPr>
          <p:cNvPr id="37" name="矩形 36"/>
          <p:cNvSpPr/>
          <p:nvPr>
            <p:custDataLst>
              <p:tags r:id="rId11"/>
            </p:custDataLst>
          </p:nvPr>
        </p:nvSpPr>
        <p:spPr>
          <a:xfrm>
            <a:off x="904875" y="2629535"/>
            <a:ext cx="4937760" cy="4362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6320790" y="1655445"/>
            <a:ext cx="5109210" cy="28397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sz="1600" b="1">
                <a:solidFill>
                  <a:srgbClr val="475569"/>
                </a:solidFill>
                <a:latin typeface="Noto Sans SC"/>
              </a:rPr>
              <a:t>Prompt</a:t>
            </a:r>
            <a:r>
              <a:rPr lang="zh-CN" altLang="en-US" sz="1600" b="1">
                <a:solidFill>
                  <a:srgbClr val="475569"/>
                </a:solidFill>
                <a:latin typeface="Noto Sans SC"/>
              </a:rPr>
              <a:t>概述</a:t>
            </a:r>
            <a:endParaRPr lang="zh-CN" altLang="en-US" sz="1600" b="1">
              <a:solidFill>
                <a:srgbClr val="475569"/>
              </a:solidFill>
              <a:latin typeface="Noto Sans SC"/>
            </a:endParaRPr>
          </a:p>
          <a:p>
            <a:endParaRPr sz="1600">
              <a:solidFill>
                <a:srgbClr val="475569"/>
              </a:solidFill>
              <a:latin typeface="Noto Sans SC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索引一致性：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- wiki/ 下有文件但 index.md 里没有 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自动加到 index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- index.md 有条目但对应文件不存在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标记为 [MISSING]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等等</a:t>
            </a:r>
            <a:endParaRPr lang="zh-CN" altLang="en-US"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/>
          <p:nvPr>
            <p:custDataLst>
              <p:tags r:id="rId12"/>
            </p:custDataLst>
          </p:nvPr>
        </p:nvSpPr>
        <p:spPr>
          <a:xfrm>
            <a:off x="933450" y="3356610"/>
            <a:ext cx="4937760" cy="11912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6320790" y="2118360"/>
            <a:ext cx="5109210" cy="22631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sz="1600" b="1">
                <a:solidFill>
                  <a:srgbClr val="475569"/>
                </a:solidFill>
                <a:latin typeface="Noto Sans SC"/>
              </a:rPr>
              <a:t>Prompt</a:t>
            </a:r>
            <a:r>
              <a:rPr lang="zh-CN" altLang="en-US" sz="1600" b="1">
                <a:solidFill>
                  <a:srgbClr val="475569"/>
                </a:solidFill>
                <a:latin typeface="Noto Sans SC"/>
              </a:rPr>
              <a:t>概述</a:t>
            </a:r>
            <a:endParaRPr lang="zh-CN" altLang="en-US" sz="1600" b="1">
              <a:solidFill>
                <a:srgbClr val="475569"/>
              </a:solidFill>
              <a:latin typeface="Noto Sans SC"/>
            </a:endParaRPr>
          </a:p>
          <a:p>
            <a:endParaRPr sz="1600">
              <a:solidFill>
                <a:srgbClr val="475569"/>
              </a:solidFill>
              <a:latin typeface="Noto Sans SC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读取 wiki/index.md，找到和问题相关的页面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读取那些页面的全文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综合所有内容，给出答案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答案中引用具体的页面（用 markdown 链接）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不生成新文件（除非用户要求保存）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62000" y="5377180"/>
            <a:ext cx="10642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400" b="1">
                <a:solidFill>
                  <a:srgbClr val="0F172A"/>
                </a:solidFill>
                <a:latin typeface="Montserrat"/>
                <a:sym typeface="+mn-ea"/>
              </a:rPr>
              <a:t>评价：文档量小时效果还行，</a:t>
            </a:r>
            <a:r>
              <a:rPr lang="en-US" altLang="zh-CN" sz="2400" b="1">
                <a:solidFill>
                  <a:srgbClr val="0F172A"/>
                </a:solidFill>
                <a:latin typeface="Montserrat"/>
                <a:sym typeface="+mn-ea"/>
              </a:rPr>
              <a:t>wiki/index.md</a:t>
            </a:r>
            <a:r>
              <a:rPr lang="zh-CN" altLang="en-US" sz="2400" b="1">
                <a:solidFill>
                  <a:srgbClr val="0F172A"/>
                </a:solidFill>
                <a:latin typeface="Montserrat"/>
                <a:sym typeface="+mn-ea"/>
              </a:rPr>
              <a:t>一旦太多条项，效果会比较差</a:t>
            </a:r>
            <a:endParaRPr lang="zh-CN" altLang="en-US" sz="2400" b="1">
              <a:solidFill>
                <a:srgbClr val="0F172A"/>
              </a:solidFill>
              <a:latin typeface="Montserra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7" grpId="1" animBg="1"/>
      <p:bldP spid="37" grpId="2" bldLvl="0" animBg="1"/>
      <p:bldP spid="41" grpId="0" bldLvl="0" animBg="1"/>
      <p:bldP spid="33" grpId="0" bldLvl="0" animBg="1"/>
      <p:bldP spid="33" grpId="1" animBg="1"/>
      <p:bldP spid="34" grpId="0" bldLvl="0" animBg="1"/>
      <p:bldP spid="34" grpId="1" bldLvl="0" animBg="1"/>
      <p:bldP spid="35" grpId="0"/>
      <p:bldP spid="3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306115"/>
            <a:ext cx="5167312" cy="37730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2769096"/>
            <a:ext cx="4614862" cy="12547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项目 B: llm-wiki-compiler </a:t>
            </a:r>
            <a:endParaRPr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57950"/>
            <a:ext cx="247069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03: THREE PROJECTS DEEP DIVE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95" y="1523365"/>
            <a:ext cx="1464945" cy="2679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24557" y="1919525"/>
            <a:ext cx="4589948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Montserrat"/>
              </a:rPr>
              <a:t>Tool</a:t>
            </a:r>
            <a:r>
              <a:rPr lang="en-US" sz="1500" b="1" i="0" u="none">
                <a:solidFill>
                  <a:srgbClr val="0F172A"/>
                </a:solidFill>
                <a:latin typeface="Montserrat"/>
              </a:rPr>
              <a:t> </a:t>
            </a:r>
            <a:r>
              <a:rPr sz="1500" b="1" i="0" u="none">
                <a:solidFill>
                  <a:srgbClr val="0F172A"/>
                </a:solidFill>
                <a:latin typeface="Montserrat"/>
              </a:rPr>
              <a:t>强制结构化提取</a:t>
            </a:r>
            <a:r>
              <a:rPr lang="zh-CN" sz="1500" b="1" i="0" u="none">
                <a:solidFill>
                  <a:srgbClr val="0F172A"/>
                </a:solidFill>
                <a:latin typeface="Montserrat"/>
              </a:rPr>
              <a:t>概念</a:t>
            </a:r>
            <a:endParaRPr lang="zh-CN" sz="15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1075" y="2303065"/>
            <a:ext cx="461486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lang="zh-CN" sz="975" b="0" i="0" u="none">
                <a:solidFill>
                  <a:srgbClr val="475569"/>
                </a:solidFill>
                <a:latin typeface="Noto Sans SC"/>
              </a:rPr>
              <a:t>对于</a:t>
            </a:r>
            <a:r>
              <a:rPr sz="975">
                <a:solidFill>
                  <a:srgbClr val="475569"/>
                </a:solidFill>
                <a:latin typeface="Noto Sans SC"/>
                <a:sym typeface="+mn-ea"/>
              </a:rPr>
              <a:t>暂存</a:t>
            </a:r>
            <a:r>
              <a:rPr lang="zh-CN" sz="975">
                <a:solidFill>
                  <a:srgbClr val="475569"/>
                </a:solidFill>
                <a:latin typeface="Noto Sans SC"/>
                <a:sym typeface="+mn-ea"/>
              </a:rPr>
              <a:t>的文章，让大模型自行提取出概念，</a:t>
            </a:r>
            <a:r>
              <a:rPr lang="zh-CN" sz="975" b="0" i="0" u="none">
                <a:solidFill>
                  <a:srgbClr val="475569"/>
                </a:solidFill>
                <a:latin typeface="Noto Sans SC"/>
              </a:rPr>
              <a:t>通过</a:t>
            </a:r>
            <a:r>
              <a:rPr lang="en-US" altLang="zh-CN" sz="975" b="0" i="0" u="none">
                <a:solidFill>
                  <a:srgbClr val="475569"/>
                </a:solidFill>
                <a:latin typeface="Noto Sans SC"/>
              </a:rPr>
              <a:t>MCP</a:t>
            </a:r>
            <a:r>
              <a:rPr lang="zh-CN" altLang="en-US" sz="975" b="0" i="0" u="none">
                <a:solidFill>
                  <a:srgbClr val="475569"/>
                </a:solidFill>
                <a:latin typeface="Noto Sans SC"/>
              </a:rPr>
              <a:t>调用工具规范输出格式</a:t>
            </a:r>
            <a:endParaRPr lang="zh-CN" altLang="en-US" sz="975" b="0" i="0" u="none">
              <a:solidFill>
                <a:srgbClr val="475569"/>
              </a:solidFill>
              <a:latin typeface="Noto Sans SC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1939528"/>
            <a:ext cx="148232" cy="190500"/>
          </a:xfrm>
          <a:prstGeom prst="rect">
            <a:avLst/>
          </a:prstGeom>
        </p:spPr>
      </p:pic>
      <p:sp>
        <p:nvSpPr>
          <p:cNvPr id="41" name="圆角矩形 40"/>
          <p:cNvSpPr/>
          <p:nvPr/>
        </p:nvSpPr>
        <p:spPr>
          <a:xfrm>
            <a:off x="6163945" y="1306195"/>
            <a:ext cx="5109210" cy="34861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sz="1600" b="1">
                <a:solidFill>
                  <a:srgbClr val="475569"/>
                </a:solidFill>
                <a:latin typeface="Noto Sans SC"/>
              </a:rPr>
              <a:t>Prompt</a:t>
            </a:r>
            <a:r>
              <a:rPr lang="zh-CN" altLang="en-US" sz="1600" b="1">
                <a:solidFill>
                  <a:srgbClr val="475569"/>
                </a:solidFill>
                <a:latin typeface="Noto Sans SC"/>
              </a:rPr>
              <a:t>概述</a:t>
            </a:r>
            <a:endParaRPr lang="zh-CN" altLang="en-US" sz="1600" b="1">
              <a:solidFill>
                <a:srgbClr val="475569"/>
              </a:solidFill>
              <a:latin typeface="Noto Sans SC"/>
            </a:endParaRPr>
          </a:p>
          <a:p>
            <a:endParaRPr sz="1600">
              <a:solidFill>
                <a:srgbClr val="475569"/>
              </a:solidFill>
              <a:latin typeface="Noto Sans SC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你是一个知识提取引擎。分析以下源文件，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 3-8 个值得写成 Wiki 页面的概念。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每个概念应该是一个独立的话题。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关注核心思想、技术、模式或实体</a:t>
            </a:r>
            <a:r>
              <a:rPr 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</a:t>
            </a: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不是琐碎细节。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 extract_concepts 工具返回你的发现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04850" y="5389245"/>
            <a:ext cx="1002220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当大模型给出的置信度低于</a:t>
            </a:r>
            <a:r>
              <a:rPr lang="en-US" altLang="zh-CN"/>
              <a:t>0.6</a:t>
            </a:r>
            <a:r>
              <a:rPr lang="zh-CN" altLang="en-US"/>
              <a:t>，以及与其它概念页面或者文章出现矛盾了，将会标注，并交给人类审核修改（有专门实现审核队列）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9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525270"/>
            <a:ext cx="5224145" cy="2756535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项目 B: llm-wiki-compiler </a:t>
            </a:r>
            <a:endParaRPr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57950"/>
            <a:ext cx="247069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03: THREE PROJECTS DEEP DIVE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82025" y="2138600"/>
            <a:ext cx="4589948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500" b="1" i="0" u="none">
                <a:solidFill>
                  <a:srgbClr val="0F172A"/>
                </a:solidFill>
                <a:latin typeface="Montserrat"/>
              </a:rPr>
              <a:t>页面生成与增量编译</a:t>
            </a:r>
            <a:endParaRPr lang="zh-CN" sz="1500" b="1" i="0" u="none">
              <a:solidFill>
                <a:srgbClr val="0F172A"/>
              </a:solidFill>
              <a:latin typeface="Montserrat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42" y="2158603"/>
            <a:ext cx="148232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>
            <p:custDataLst>
              <p:tags r:id="rId4"/>
            </p:custDataLst>
          </p:nvPr>
        </p:nvSpPr>
        <p:spPr>
          <a:xfrm>
            <a:off x="1209992" y="2496740"/>
            <a:ext cx="4443412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475569"/>
                </a:solidFill>
                <a:latin typeface="Noto Sans SC"/>
              </a:rPr>
              <a:t>行级别精准溯源：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 页面末尾强制输出 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## Sources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。段落末尾使用 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^[filename.md:42-58]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 溯源。不仅杜绝幻觉，而且当源文件变动时，可实现精准部分重写。</a:t>
            </a:r>
            <a:endParaRPr sz="1050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1" name="TextBox 20"/>
          <p:cNvSpPr txBox="1"/>
          <p:nvPr>
            <p:custDataLst>
              <p:tags r:id="rId5"/>
            </p:custDataLst>
          </p:nvPr>
        </p:nvSpPr>
        <p:spPr>
          <a:xfrm>
            <a:off x="1209992" y="3212752"/>
            <a:ext cx="4443412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475569"/>
                </a:solidFill>
                <a:latin typeface="Noto Sans SC"/>
              </a:rPr>
              <a:t>SHA256 增量检测：</a:t>
            </a:r>
            <a:r>
              <a:rPr sz="1050" b="0" i="0" u="none">
                <a:solidFill>
                  <a:srgbClr val="475569"/>
                </a:solidFill>
                <a:latin typeface="Noto Sans SC"/>
              </a:rPr>
              <a:t> 对所有源文件进行哈希标记。当且仅当文件变化时重编译。如概念 A 被多个文件引用，反向追踪依赖链，触发级联重新对受波及页面编译。</a:t>
            </a:r>
            <a:endParaRPr sz="1050" b="0" i="0" u="none">
              <a:solidFill>
                <a:srgbClr val="475569"/>
              </a:solidFill>
              <a:latin typeface="Noto Sans SC"/>
            </a:endParaRPr>
          </a:p>
        </p:txBody>
      </p:sp>
      <p:sp>
        <p:nvSpPr>
          <p:cNvPr id="24" name="TextBox 23"/>
          <p:cNvSpPr txBox="1"/>
          <p:nvPr>
            <p:custDataLst>
              <p:tags r:id="rId6"/>
            </p:custDataLst>
          </p:nvPr>
        </p:nvSpPr>
        <p:spPr>
          <a:xfrm>
            <a:off x="1038542" y="2496740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050" b="1" i="0" u="none">
              <a:solidFill>
                <a:srgbClr val="0284C7"/>
              </a:solidFill>
              <a:latin typeface="Noto Sans SC"/>
            </a:endParaRPr>
          </a:p>
        </p:txBody>
      </p:sp>
      <p:sp>
        <p:nvSpPr>
          <p:cNvPr id="25" name="TextBox 24"/>
          <p:cNvSpPr txBox="1"/>
          <p:nvPr>
            <p:custDataLst>
              <p:tags r:id="rId7"/>
            </p:custDataLst>
          </p:nvPr>
        </p:nvSpPr>
        <p:spPr>
          <a:xfrm>
            <a:off x="1038542" y="3212752"/>
            <a:ext cx="476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050" b="1" i="0" u="none">
              <a:solidFill>
                <a:srgbClr val="0284C7"/>
              </a:solidFill>
              <a:latin typeface="Noto Sans SC"/>
            </a:endParaRPr>
          </a:p>
        </p:txBody>
      </p:sp>
      <p:sp>
        <p:nvSpPr>
          <p:cNvPr id="35" name="流程图: 终止 34"/>
          <p:cNvSpPr/>
          <p:nvPr/>
        </p:nvSpPr>
        <p:spPr>
          <a:xfrm>
            <a:off x="1028700" y="1797685"/>
            <a:ext cx="1181100" cy="180975"/>
          </a:xfrm>
          <a:prstGeom prst="flowChartTerminator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 sz="800"/>
          </a:p>
        </p:txBody>
      </p:sp>
      <p:sp>
        <p:nvSpPr>
          <p:cNvPr id="36" name="文本框 35"/>
          <p:cNvSpPr txBox="1"/>
          <p:nvPr/>
        </p:nvSpPr>
        <p:spPr>
          <a:xfrm>
            <a:off x="1047750" y="1780540"/>
            <a:ext cx="4064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 b="1">
                <a:solidFill>
                  <a:srgbClr val="007CC3"/>
                </a:solidFill>
                <a:latin typeface="微软雅黑" panose="020B0503020204020204" charset="-122"/>
                <a:ea typeface="微软雅黑" panose="020B0503020204020204" charset="-122"/>
              </a:rPr>
              <a:t>Page Generation</a:t>
            </a:r>
            <a:endParaRPr lang="en-US" sz="900" b="1">
              <a:solidFill>
                <a:srgbClr val="007CC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221095" y="788670"/>
            <a:ext cx="5109210" cy="3921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sz="1600" b="1">
                <a:solidFill>
                  <a:srgbClr val="475569"/>
                </a:solidFill>
                <a:latin typeface="Noto Sans SC"/>
              </a:rPr>
              <a:t>Prompt</a:t>
            </a:r>
            <a:r>
              <a:rPr lang="zh-CN" altLang="en-US" sz="1600" b="1">
                <a:solidFill>
                  <a:srgbClr val="475569"/>
                </a:solidFill>
                <a:latin typeface="Noto Sans SC"/>
              </a:rPr>
              <a:t>概述</a:t>
            </a:r>
            <a:endParaRPr lang="zh-CN" altLang="en-US" sz="1600" b="1">
              <a:solidFill>
                <a:srgbClr val="475569"/>
              </a:solidFill>
              <a:latin typeface="Noto Sans SC"/>
            </a:endParaRPr>
          </a:p>
          <a:p>
            <a:endParaRPr sz="1600">
              <a:solidFill>
                <a:srgbClr val="475569"/>
              </a:solidFill>
              <a:latin typeface="Noto Sans SC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你是一个 Wiki 作者。写一篇关于</a:t>
            </a:r>
            <a:r>
              <a:rPr 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</a:t>
            </a:r>
            <a:r>
              <a:rPr lang="zh-CN" alt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</a:t>
            </a:r>
            <a:r>
              <a:rPr 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的清晰、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结构良好的 Markdown 页面。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只从提供的源材料中提取事实。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在末尾添加 ## Sources 章节。在合适的位</a:t>
            </a:r>
            <a:r>
              <a:rPr 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置使用</a:t>
            </a: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[[wikilinks]] </a:t>
            </a:r>
            <a:r>
              <a:rPr 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</a:t>
            </a:r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到其他相关概念。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^[filename.md:42-58] 格式标注每个段落的来源（文件名:行号范围）。</a:t>
            </a:r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</a:t>
            </a:r>
            <a:r>
              <a:rPr lang="zh-CN" alt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概念的页面原文</a:t>
            </a:r>
            <a:r>
              <a:rPr lang="en-US" alt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r>
              <a:rPr lang="zh-CN" alt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（如果有）</a:t>
            </a:r>
            <a:r>
              <a:rPr lang="en-US" alt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&lt;</a:t>
            </a:r>
            <a:r>
              <a:rPr lang="zh-CN" altLang="en-US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源材料</a:t>
            </a:r>
            <a:r>
              <a:rPr lang="en-US" alt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endParaRPr lang="en-US" altLang="zh-CN"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62000" y="4965065"/>
            <a:ext cx="1002220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llm-wiki-compiler</a:t>
            </a:r>
            <a:r>
              <a:rPr lang="zh-CN" altLang="en-US"/>
              <a:t>支持一次同时编译多篇文章：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）提取多篇文章的概念后，综合每个概念有哪些源文章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）生成该概念的页面时，将多篇源文章拼接在一起作为源材料</a:t>
            </a:r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8"/>
            </p:custDataLst>
          </p:nvPr>
        </p:nvSpPr>
        <p:spPr>
          <a:xfrm>
            <a:off x="934085" y="3218180"/>
            <a:ext cx="4937760" cy="7759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>
            <a:off x="3347720" y="4102735"/>
            <a:ext cx="325120" cy="6134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423545" y="4893945"/>
            <a:ext cx="1153096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/>
              <a:t>说人话：源文件变动</a:t>
            </a:r>
            <a:r>
              <a:rPr lang="en-US" altLang="zh-CN"/>
              <a:t>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lang="zh-CN"/>
              <a:t>相关概念受影响需要重新编译</a:t>
            </a:r>
            <a:r>
              <a:rPr lang="en-US" altLang="zh-CN"/>
              <a:t>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→ </a:t>
            </a:r>
            <a:r>
              <a:rPr lang="zh-CN">
                <a:sym typeface="+mn-ea"/>
              </a:rPr>
              <a:t>存在其它</a:t>
            </a:r>
            <a:r>
              <a:rPr lang="zh-CN">
                <a:sym typeface="+mn-ea"/>
              </a:rPr>
              <a:t>引用该概念的</a:t>
            </a:r>
            <a:r>
              <a:rPr lang="zh-CN">
                <a:sym typeface="+mn-ea"/>
              </a:rPr>
              <a:t>页面也需要重新编译（就是使用了[[wikilinks]]引用）</a:t>
            </a:r>
            <a:r>
              <a:rPr lang="zh-CN"/>
              <a:t> </a:t>
            </a:r>
            <a:endParaRPr lang="zh-CN"/>
          </a:p>
        </p:txBody>
      </p:sp>
      <p:sp>
        <p:nvSpPr>
          <p:cNvPr id="31" name="文本框 30"/>
          <p:cNvSpPr txBox="1"/>
          <p:nvPr/>
        </p:nvSpPr>
        <p:spPr>
          <a:xfrm>
            <a:off x="423545" y="5599430"/>
            <a:ext cx="1153096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/>
              <a:t>这里维护了几个表（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/>
              <a:t>文章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→</a:t>
            </a:r>
            <a:r>
              <a:rPr lang="zh-CN" altLang="en-US"/>
              <a:t>概念：方便源文章发生变动时去找到什么概念需要重新编译；</a:t>
            </a:r>
            <a:endParaRPr lang="zh-CN" altLang="en-US"/>
          </a:p>
          <a:p>
            <a:pPr marL="1371600" lvl="3" indent="457200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）概念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→</a:t>
            </a:r>
            <a:r>
              <a:rPr lang="zh-CN" altLang="en-US"/>
              <a:t>文章：概念重新编译时需要所有的文章一起作为源材料，不能只拿那个变动的</a:t>
            </a:r>
            <a:endParaRPr lang="zh-CN" altLang="en-US"/>
          </a:p>
          <a:p>
            <a:pPr marL="1371600" lvl="3" indent="457200"/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）概念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→</a:t>
            </a:r>
            <a:r>
              <a:rPr lang="zh-CN" altLang="en-US"/>
              <a:t>概念：概念之间也是会相互使用</a:t>
            </a:r>
            <a:r>
              <a:rPr lang="en-US" altLang="zh-CN"/>
              <a:t>[[wikilink]]</a:t>
            </a:r>
            <a:r>
              <a:rPr lang="zh-CN" altLang="en-US"/>
              <a:t>的，变动时也要级联更新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62000" y="5886450"/>
            <a:ext cx="1153096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这个项目做</a:t>
            </a:r>
            <a:r>
              <a:rPr lang="en-US" altLang="zh-CN"/>
              <a:t> RAG </a:t>
            </a:r>
            <a:r>
              <a:rPr lang="zh-CN" altLang="en-US"/>
              <a:t>切块有</a:t>
            </a:r>
            <a:r>
              <a:rPr lang="en-US" altLang="zh-CN"/>
              <a:t> chunk </a:t>
            </a:r>
            <a:r>
              <a:rPr lang="zh-CN" altLang="en-US"/>
              <a:t>和</a:t>
            </a:r>
            <a:r>
              <a:rPr lang="en-US" altLang="zh-CN"/>
              <a:t> concept page </a:t>
            </a:r>
            <a:r>
              <a:rPr lang="zh-CN" altLang="en-US"/>
              <a:t>两种级别的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  <p:bldP spid="28" grpId="2"/>
      <p:bldP spid="33" grpId="0" bldLvl="0" animBg="1"/>
      <p:bldP spid="33" grpId="1" animBg="1"/>
      <p:bldP spid="30" grpId="0"/>
      <p:bldP spid="30" grpId="1"/>
      <p:bldP spid="31" grpId="0"/>
      <p:bldP spid="31" grpId="1"/>
      <p:bldP spid="32" grpId="0"/>
      <p:bldP spid="32" grpId="1"/>
      <p:bldP spid="32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9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23010"/>
            <a:ext cx="11028680" cy="5019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项目 B: llm-wiki-compiler </a:t>
            </a:r>
            <a:endParaRPr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6775" y="1480740"/>
            <a:ext cx="4589948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sz="1500" b="1" i="0" u="none">
                <a:solidFill>
                  <a:srgbClr val="0F172A"/>
                </a:solidFill>
                <a:latin typeface="Montserrat"/>
              </a:rPr>
              <a:t>用户查询与知识复利</a:t>
            </a:r>
            <a:endParaRPr lang="zh-CN" sz="1500" b="1" i="0" u="none">
              <a:solidFill>
                <a:srgbClr val="0F172A"/>
              </a:solidFill>
              <a:latin typeface="Montserrat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92" y="1500743"/>
            <a:ext cx="148232" cy="190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3450" y="1875155"/>
            <a:ext cx="547814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用户查询 "attention mechanism"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│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├── 路 1: 语义搜索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│   把查询文本转为向量（用 embedding 模型）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│   → 在向量数据库中找最相似的 Wiki 页面 chunk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│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├── 路 2: BM25 重排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│   对路 1 的结果用 BM25 关键词匹配重新打分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│   → 把精确关键词匹配的结果排到前面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│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└── 路 3: 图扩展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拿前几名</a:t>
            </a:r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块对应</a:t>
            </a: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作为种子节点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→ 通过 [[wikilinks]] 找相关的</a:t>
            </a:r>
            <a:r>
              <a:rPr 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1-hop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其他页面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→ 一起返回</a:t>
            </a:r>
            <a:endParaRPr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53125" y="1500505"/>
            <a:ext cx="5819140" cy="375348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latinLnBrk="0">
              <a:buClrTx/>
              <a:buSzTx/>
              <a:buNone/>
            </a:pPr>
            <a:r>
              <a:rPr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用户查询 "attention mechanism"
    │
    ├── 第 1 层: Chunk 级语义检索
    │   用 embedding 模型把查询和所有 Wiki chunk 转为向量
    │   → 余弦相似度 → Top-K 相关 chunk
    │   → 把 chunk 映射回所属的 </a:t>
            </a:r>
            <a:r>
              <a:rPr sz="1400" b="1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pageId</a:t>
            </a:r>
            <a:r>
              <a:rPr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    │   → 如果有命中，直接返回（精度最高）
    │
    ├── 第 2 层: Page 级语义检索
    │   如果 chunk 级没命中
    │   → 用 page 级别的 embedding 检索
    │   → Top-K 相关页面
    │
    └── 第 3 层: LLM 兜底
        如果向量检索完全没命中（</a:t>
            </a:r>
            <a:r>
              <a:rPr 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或者根本没有</a:t>
            </a:r>
            <a:r>
              <a:rPr lang="en-US" alt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r>
              <a:rPr lang="zh-CN" altLang="en-US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模型可用</a:t>
            </a:r>
            <a:r>
              <a:rPr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
        → 把 Wiki </a:t>
            </a:r>
            <a:r>
              <a:rPr 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index.md </a:t>
            </a:r>
            <a:r>
              <a:rPr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发给 LLM
        → LLM 自己选最相关的页面</a:t>
            </a:r>
            <a:endParaRPr sz="14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流程图: 终止 4"/>
          <p:cNvSpPr/>
          <p:nvPr/>
        </p:nvSpPr>
        <p:spPr>
          <a:xfrm>
            <a:off x="3907155" y="1905635"/>
            <a:ext cx="1181100" cy="282575"/>
          </a:xfrm>
          <a:prstGeom prst="flowChartTerminator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 sz="800"/>
          </a:p>
        </p:txBody>
      </p:sp>
      <p:sp>
        <p:nvSpPr>
          <p:cNvPr id="9" name="文本框 8"/>
          <p:cNvSpPr txBox="1"/>
          <p:nvPr/>
        </p:nvSpPr>
        <p:spPr>
          <a:xfrm>
            <a:off x="4022090" y="1905635"/>
            <a:ext cx="4064000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rgbClr val="007CC3"/>
                </a:solidFill>
                <a:latin typeface="微软雅黑" panose="020B0503020204020204" charset="-122"/>
                <a:ea typeface="微软雅黑" panose="020B0503020204020204" charset="-122"/>
              </a:rPr>
              <a:t>查询流程</a:t>
            </a:r>
            <a:endParaRPr lang="zh-CN" altLang="en-US" sz="1400" b="1">
              <a:solidFill>
                <a:srgbClr val="007CC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流程图: 终止 10"/>
          <p:cNvSpPr/>
          <p:nvPr/>
        </p:nvSpPr>
        <p:spPr>
          <a:xfrm>
            <a:off x="8992235" y="1500505"/>
            <a:ext cx="1595120" cy="282575"/>
          </a:xfrm>
          <a:prstGeom prst="flowChartTerminator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 sz="800"/>
          </a:p>
        </p:txBody>
      </p:sp>
      <p:sp>
        <p:nvSpPr>
          <p:cNvPr id="12" name="文本框 11"/>
          <p:cNvSpPr txBox="1"/>
          <p:nvPr/>
        </p:nvSpPr>
        <p:spPr>
          <a:xfrm>
            <a:off x="9114155" y="1483360"/>
            <a:ext cx="4064000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rgbClr val="007CC3"/>
                </a:solidFill>
                <a:latin typeface="微软雅黑" panose="020B0503020204020204" charset="-122"/>
                <a:ea typeface="微软雅黑" panose="020B0503020204020204" charset="-122"/>
              </a:rPr>
              <a:t>语义检索流程</a:t>
            </a:r>
            <a:endParaRPr lang="zh-CN" altLang="en-US" sz="1400" b="1">
              <a:solidFill>
                <a:srgbClr val="007CC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流程图: 终止 15"/>
          <p:cNvSpPr/>
          <p:nvPr/>
        </p:nvSpPr>
        <p:spPr>
          <a:xfrm>
            <a:off x="1071880" y="5502910"/>
            <a:ext cx="1181100" cy="282575"/>
          </a:xfrm>
          <a:prstGeom prst="flowChartTerminator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 sz="800"/>
          </a:p>
        </p:txBody>
      </p:sp>
      <p:sp>
        <p:nvSpPr>
          <p:cNvPr id="17" name="文本框 16"/>
          <p:cNvSpPr txBox="1"/>
          <p:nvPr/>
        </p:nvSpPr>
        <p:spPr>
          <a:xfrm>
            <a:off x="1186815" y="5502910"/>
            <a:ext cx="4064000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>
                <a:solidFill>
                  <a:srgbClr val="007CC3"/>
                </a:solidFill>
                <a:latin typeface="微软雅黑" panose="020B0503020204020204" charset="-122"/>
                <a:ea typeface="微软雅黑" panose="020B0503020204020204" charset="-122"/>
              </a:rPr>
              <a:t>知识复利</a:t>
            </a:r>
            <a:endParaRPr lang="zh-CN" altLang="en-US" sz="1400" b="1">
              <a:solidFill>
                <a:srgbClr val="007CC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540000" y="5502910"/>
            <a:ext cx="60432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最后，用户的查询会被总结放在</a:t>
            </a:r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wiki/queries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文件夹中，并用</a:t>
            </a:r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模型生成嵌入，可供下次查询时复用，从而实现</a:t>
            </a:r>
            <a:r>
              <a:rPr lang="zh-CN" altLang="en-US" sz="14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知识复利</a:t>
            </a:r>
            <a:endParaRPr lang="zh-CN" altLang="en-US" sz="1400" b="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9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223010"/>
            <a:ext cx="11028680" cy="4394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项目 B: llm-wiki-compiler </a:t>
            </a:r>
            <a:endParaRPr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1575" y="1480820"/>
            <a:ext cx="6196965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altLang="en-US" sz="1500" b="1" i="0" u="none">
                <a:solidFill>
                  <a:srgbClr val="0F172A"/>
                </a:solidFill>
                <a:latin typeface="Montserrat"/>
              </a:rPr>
              <a:t>可配置生命周期配置文件（</a:t>
            </a:r>
            <a:r>
              <a:rPr lang="en-US" altLang="zh-CN" sz="1500" b="1" i="0" u="none">
                <a:solidFill>
                  <a:srgbClr val="0F172A"/>
                </a:solidFill>
                <a:latin typeface="Montserrat"/>
              </a:rPr>
              <a:t>Configurable Lifecycle Profile</a:t>
            </a:r>
            <a:r>
              <a:rPr lang="zh-CN" altLang="en-US" sz="1500" b="1" i="0" u="none">
                <a:solidFill>
                  <a:srgbClr val="0F172A"/>
                </a:solidFill>
                <a:latin typeface="Montserrat"/>
              </a:rPr>
              <a:t>，</a:t>
            </a:r>
            <a:r>
              <a:rPr lang="en-US" altLang="zh-CN" sz="1500" b="1" i="0" u="none">
                <a:solidFill>
                  <a:srgbClr val="0F172A"/>
                </a:solidFill>
                <a:latin typeface="Montserrat"/>
              </a:rPr>
              <a:t>CFP</a:t>
            </a:r>
            <a:r>
              <a:rPr lang="zh-CN" altLang="en-US" sz="1500" b="1" i="0" u="none">
                <a:solidFill>
                  <a:srgbClr val="0F172A"/>
                </a:solidFill>
                <a:latin typeface="Montserrat"/>
              </a:rPr>
              <a:t>）</a:t>
            </a:r>
            <a:endParaRPr lang="zh-CN" altLang="en-US" sz="1500" b="1" i="0" u="none">
              <a:solidFill>
                <a:srgbClr val="0F172A"/>
              </a:solidFill>
              <a:latin typeface="Montserrat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92" y="1500743"/>
            <a:ext cx="148232" cy="1905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2017395"/>
            <a:ext cx="6160135" cy="3035300"/>
          </a:xfrm>
          <a:prstGeom prst="rect">
            <a:avLst/>
          </a:prstGeom>
        </p:spPr>
      </p:pic>
      <p:sp>
        <p:nvSpPr>
          <p:cNvPr id="20" name="TextBox 19"/>
          <p:cNvSpPr txBox="1"/>
          <p:nvPr>
            <p:custDataLst>
              <p:tags r:id="rId4"/>
            </p:custDataLst>
          </p:nvPr>
        </p:nvSpPr>
        <p:spPr>
          <a:xfrm>
            <a:off x="7511732" y="2017315"/>
            <a:ext cx="4443412" cy="430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在llm-wiki</a:t>
            </a:r>
            <a:r>
              <a:rPr 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-compiler</a:t>
            </a: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中默认只有</a:t>
            </a:r>
            <a:r>
              <a:rPr lang="en-US" altLang="zh-CN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concept</a:t>
            </a: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1400" b="0" i="0" u="non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但是引入了</a:t>
            </a:r>
            <a:r>
              <a:rPr lang="en-US" altLang="zh-CN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CFP</a:t>
            </a: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后可以设定不同的</a:t>
            </a:r>
            <a:r>
              <a:rPr lang="en-US" altLang="zh-CN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entities</a:t>
            </a:r>
            <a:endParaRPr lang="en-US" altLang="zh-CN" sz="1400" b="0" i="0" u="non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5"/>
            </p:custDataLst>
          </p:nvPr>
        </p:nvSpPr>
        <p:spPr>
          <a:xfrm>
            <a:off x="7368857" y="2017315"/>
            <a:ext cx="47625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400" b="1" i="0" u="none">
              <a:solidFill>
                <a:srgbClr val="0284C7"/>
              </a:solidFill>
              <a:latin typeface="Noto Sans SC"/>
            </a:endParaRPr>
          </a:p>
        </p:txBody>
      </p:sp>
      <p:sp>
        <p:nvSpPr>
          <p:cNvPr id="13" name="TextBox 19"/>
          <p:cNvSpPr txBox="1"/>
          <p:nvPr>
            <p:custDataLst>
              <p:tags r:id="rId6"/>
            </p:custDataLst>
          </p:nvPr>
        </p:nvSpPr>
        <p:spPr>
          <a:xfrm>
            <a:off x="7524432" y="2741215"/>
            <a:ext cx="4443412" cy="861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</a:t>
            </a:r>
            <a:r>
              <a:rPr lang="en-US" altLang="zh-CN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entities</a:t>
            </a: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大类（如</a:t>
            </a:r>
            <a:r>
              <a:rPr lang="en-US" altLang="zh-CN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paper</a:t>
            </a: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）可以有若干文件，</a:t>
            </a:r>
            <a:endParaRPr lang="zh-CN" altLang="en-US" sz="1400" b="0" i="0" u="non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也是可以</a:t>
            </a:r>
            <a:r>
              <a:rPr lang="en-US" altLang="zh-CN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compile</a:t>
            </a: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得到的。每个文件拥有一个</a:t>
            </a:r>
            <a:r>
              <a:rPr lang="en-US" altLang="zh-CN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lifecyle</a:t>
            </a:r>
            <a:endParaRPr lang="en-US" altLang="zh-CN" sz="1400" b="0" i="0" u="non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表示当前的状态</a:t>
            </a:r>
            <a:r>
              <a:rPr lang="en-US" altLang="zh-CN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（放在</a:t>
            </a:r>
            <a:r>
              <a:rPr lang="en-US" altLang="zh-CN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</a:t>
            </a: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开头的</a:t>
            </a:r>
            <a:r>
              <a:rPr lang="en-US" altLang="zh-CN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yaml</a:t>
            </a:r>
            <a:r>
              <a:rPr lang="zh-CN" altLang="en-US" sz="1400" b="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部分）</a:t>
            </a:r>
            <a:endParaRPr lang="zh-CN" altLang="en-US" sz="1400" b="0" i="0" u="non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endParaRPr lang="zh-CN" altLang="en-US" sz="1400" b="0" i="0" u="non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23"/>
          <p:cNvSpPr txBox="1"/>
          <p:nvPr>
            <p:custDataLst>
              <p:tags r:id="rId7"/>
            </p:custDataLst>
          </p:nvPr>
        </p:nvSpPr>
        <p:spPr>
          <a:xfrm>
            <a:off x="7381557" y="2741215"/>
            <a:ext cx="47625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400" b="1" i="0" u="none">
              <a:solidFill>
                <a:srgbClr val="0284C7"/>
              </a:solidFill>
              <a:latin typeface="Noto Sans SC"/>
            </a:endParaRPr>
          </a:p>
        </p:txBody>
      </p:sp>
      <p:sp>
        <p:nvSpPr>
          <p:cNvPr id="16" name="TextBox 19"/>
          <p:cNvSpPr txBox="1"/>
          <p:nvPr>
            <p:custDataLst>
              <p:tags r:id="rId8"/>
            </p:custDataLst>
          </p:nvPr>
        </p:nvSpPr>
        <p:spPr>
          <a:xfrm>
            <a:off x="7511732" y="3620055"/>
            <a:ext cx="4443412" cy="861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altLang="zh-CN" sz="140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CFP</a:t>
            </a:r>
            <a:r>
              <a:rPr lang="zh-CN" altLang="en-US" sz="140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可以配置修改状态的前提条件，</a:t>
            </a:r>
            <a:endParaRPr lang="zh-CN" altLang="en-US" sz="1400" i="0" u="non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lang="zh-CN" altLang="en-US" sz="140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比如</a:t>
            </a:r>
            <a:r>
              <a:rPr lang="en-US" altLang="zh-CN" sz="140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idea </a:t>
            </a:r>
            <a:r>
              <a:rPr lang="zh-CN" altLang="en-US" sz="140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必须经过人工审核才能变成</a:t>
            </a:r>
            <a:r>
              <a:rPr lang="en-US" altLang="zh-CN" sz="140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validated</a:t>
            </a:r>
            <a:endParaRPr lang="en-US" altLang="zh-CN" sz="1400" i="0" u="non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endParaRPr lang="en-US" altLang="zh-CN" sz="1400" i="0" u="non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lang="zh-CN" altLang="en-US" sz="1400" i="0" u="none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这就有点类似真实的维基百科维护过程了</a:t>
            </a:r>
            <a:endParaRPr lang="zh-CN" altLang="en-US" sz="1400" i="0" u="none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23"/>
          <p:cNvSpPr txBox="1"/>
          <p:nvPr>
            <p:custDataLst>
              <p:tags r:id="rId9"/>
            </p:custDataLst>
          </p:nvPr>
        </p:nvSpPr>
        <p:spPr>
          <a:xfrm>
            <a:off x="7368857" y="3620055"/>
            <a:ext cx="47625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400" b="1" i="0" u="none">
                <a:solidFill>
                  <a:srgbClr val="0284C7"/>
                </a:solidFill>
                <a:latin typeface="Noto Sans SC"/>
              </a:rPr>
              <a:t>•</a:t>
            </a:r>
            <a:endParaRPr sz="1400" b="1" i="0" u="none">
              <a:solidFill>
                <a:srgbClr val="0284C7"/>
              </a:solidFill>
              <a:latin typeface="Noto Sans SC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62000" y="5837555"/>
            <a:ext cx="10642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400" b="1">
                <a:solidFill>
                  <a:srgbClr val="0F172A"/>
                </a:solidFill>
                <a:latin typeface="Montserrat"/>
                <a:sym typeface="+mn-ea"/>
              </a:rPr>
              <a:t>评价：</a:t>
            </a:r>
            <a:r>
              <a:rPr lang="en-US" altLang="zh-CN" sz="2400" b="1">
                <a:solidFill>
                  <a:srgbClr val="0F172A"/>
                </a:solidFill>
                <a:latin typeface="Montserrat"/>
                <a:sym typeface="+mn-ea"/>
              </a:rPr>
              <a:t>llm-wiki-compiler</a:t>
            </a:r>
            <a:r>
              <a:rPr lang="zh-CN" altLang="en-US" sz="2400" b="1">
                <a:solidFill>
                  <a:srgbClr val="0F172A"/>
                </a:solidFill>
                <a:latin typeface="Montserrat"/>
                <a:sym typeface="+mn-ea"/>
              </a:rPr>
              <a:t>仅支持</a:t>
            </a:r>
            <a:r>
              <a:rPr lang="en-US" altLang="zh-CN" sz="2400" b="1">
                <a:solidFill>
                  <a:srgbClr val="0F172A"/>
                </a:solidFill>
                <a:latin typeface="Montserrat"/>
                <a:sym typeface="+mn-ea"/>
              </a:rPr>
              <a:t>txt</a:t>
            </a:r>
            <a:r>
              <a:rPr lang="zh-CN" altLang="en-US" sz="2400" b="1">
                <a:solidFill>
                  <a:srgbClr val="0F172A"/>
                </a:solidFill>
                <a:latin typeface="Montserrat"/>
                <a:sym typeface="+mn-ea"/>
              </a:rPr>
              <a:t>和</a:t>
            </a:r>
            <a:r>
              <a:rPr lang="en-US" altLang="zh-CN" sz="2400" b="1">
                <a:solidFill>
                  <a:srgbClr val="0F172A"/>
                </a:solidFill>
                <a:latin typeface="Montserrat"/>
                <a:sym typeface="+mn-ea"/>
              </a:rPr>
              <a:t>md</a:t>
            </a:r>
            <a:r>
              <a:rPr lang="zh-CN" altLang="en-US" sz="2400" b="1">
                <a:solidFill>
                  <a:srgbClr val="0F172A"/>
                </a:solidFill>
                <a:latin typeface="Montserrat"/>
                <a:sym typeface="+mn-ea"/>
              </a:rPr>
              <a:t>格式，而且编译速度有点慢</a:t>
            </a:r>
            <a:endParaRPr lang="zh-CN" altLang="en-US" sz="2400" b="1">
              <a:solidFill>
                <a:srgbClr val="0F172A"/>
              </a:solidFill>
              <a:latin typeface="Montserra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55395"/>
            <a:ext cx="10668000" cy="481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项目 C: nashsu/llm_wiki </a:t>
            </a:r>
            <a:endParaRPr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57950"/>
            <a:ext cx="247069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03: THREE PROJECTS DEEP DIVE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36" name="TextBox 13"/>
          <p:cNvSpPr txBox="1"/>
          <p:nvPr/>
        </p:nvSpPr>
        <p:spPr>
          <a:xfrm>
            <a:off x="933450" y="1399540"/>
            <a:ext cx="6196965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altLang="en-US" sz="1500" b="1" i="0" u="none">
                <a:solidFill>
                  <a:srgbClr val="0F172A"/>
                </a:solidFill>
                <a:latin typeface="Montserrat"/>
              </a:rPr>
              <a:t>先让大模型进行</a:t>
            </a:r>
            <a:r>
              <a:rPr lang="en-US" altLang="zh-CN" sz="1500" b="1" i="0" u="none">
                <a:solidFill>
                  <a:srgbClr val="0F172A"/>
                </a:solidFill>
                <a:latin typeface="Montserrat"/>
              </a:rPr>
              <a:t>Analysis</a:t>
            </a:r>
            <a:endParaRPr lang="en-US" altLang="zh-CN" sz="1500" b="1" i="0" u="none">
              <a:solidFill>
                <a:srgbClr val="0F172A"/>
              </a:solidFill>
              <a:latin typeface="Montserrat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35" y="1828800"/>
            <a:ext cx="5443855" cy="3848735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6579235" y="1768475"/>
            <a:ext cx="5819140" cy="116840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latinLnBrk="0">
              <a:buClrTx/>
              <a:buSzTx/>
              <a:buNone/>
            </a:pPr>
            <a:r>
              <a:rPr 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其实就是让大模型综合当前上下文和已有页面，</a:t>
            </a:r>
            <a:endParaRPr lang="zh-CN" sz="14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 latinLnBrk="0">
              <a:buClrTx/>
              <a:buSzTx/>
              <a:buNone/>
            </a:pPr>
            <a:r>
              <a:rPr 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分析出源材料的关键</a:t>
            </a:r>
            <a:r>
              <a:rPr lang="en-US" alt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entities</a:t>
            </a:r>
            <a:r>
              <a:rPr lang="zh-CN" altLang="en-US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concepts</a:t>
            </a:r>
            <a:endParaRPr lang="en-US" altLang="zh-CN" sz="14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 latinLnBrk="0">
              <a:buClrTx/>
              <a:buSzTx/>
              <a:buNone/>
            </a:pPr>
            <a:endParaRPr lang="en-US" altLang="zh-CN" sz="14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 latinLnBrk="0">
              <a:buClrTx/>
              <a:buSzTx/>
              <a:buNone/>
            </a:pPr>
            <a:r>
              <a:rPr lang="zh-CN" altLang="en-US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</a:t>
            </a:r>
            <a:r>
              <a:rPr lang="en-US" alt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llm-wiki-compiler</a:t>
            </a:r>
            <a:r>
              <a:rPr lang="zh-CN" altLang="en-US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，该项目只能一个个提取概念和实体</a:t>
            </a:r>
            <a:endParaRPr lang="zh-CN" altLang="en-US" sz="14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 latinLnBrk="0">
              <a:buClrTx/>
              <a:buSzTx/>
              <a:buNone/>
            </a:pPr>
            <a:r>
              <a:rPr lang="zh-CN" altLang="en-US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并生成</a:t>
            </a:r>
            <a:r>
              <a:rPr lang="en-US" alt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wiki</a:t>
            </a:r>
            <a:endParaRPr lang="en-US" altLang="zh-CN" sz="14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/>
          <p:nvPr>
            <p:custDataLst>
              <p:tags r:id="rId4"/>
            </p:custDataLst>
          </p:nvPr>
        </p:nvSpPr>
        <p:spPr>
          <a:xfrm>
            <a:off x="1158240" y="4470400"/>
            <a:ext cx="5298440" cy="97917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635" y="3006090"/>
            <a:ext cx="3378835" cy="2671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/>
      <p:bldP spid="41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55395"/>
            <a:ext cx="10668000" cy="4328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2400" b="1" i="0" u="none">
                <a:solidFill>
                  <a:srgbClr val="0F172A"/>
                </a:solidFill>
                <a:latin typeface="Montserrat"/>
              </a:rPr>
              <a:t>项目 C: nashsu/llm_wiki </a:t>
            </a:r>
            <a:endParaRPr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6457950"/>
            <a:ext cx="247069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Montserrat"/>
              </a:rPr>
              <a:t>PART 03: THREE PROJECTS DEEP DIVE</a:t>
            </a:r>
            <a:endParaRPr sz="825" b="0" i="0" u="none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36" name="TextBox 13"/>
          <p:cNvSpPr txBox="1"/>
          <p:nvPr/>
        </p:nvSpPr>
        <p:spPr>
          <a:xfrm>
            <a:off x="933450" y="1399540"/>
            <a:ext cx="6196965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altLang="en-US" sz="1500" b="1" i="0" u="none">
                <a:solidFill>
                  <a:srgbClr val="0F172A"/>
                </a:solidFill>
                <a:latin typeface="Montserrat"/>
              </a:rPr>
              <a:t>然后再让大模型生成页面</a:t>
            </a:r>
            <a:endParaRPr lang="en-US" altLang="zh-CN" sz="15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68680" y="1960245"/>
            <a:ext cx="5652770" cy="289179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 latinLnBrk="0">
              <a:buClrTx/>
              <a:buSzTx/>
              <a:buNone/>
            </a:pPr>
            <a:r>
              <a:rPr lang="zh-CN" sz="1400" b="0" i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"基于阶段一的分析结果，为以下内容生成完整的 Markdown 文件：
 1. 源文件摘要页 (wiki/sources/{slug}.md)
 2. 实体页面 (wiki/entities/{Name}.md)
 3. 概念页面 (wiki/concepts/{Name}.md)
 4. 更新 wiki/index.md
 5. 更新 wiki/overview.md
 6. 更新 wiki/log.md
 7. Review 项（需要人工判断的内容）
 每个页面必须包含 YAML frontmatter (type, tags, sources[], created, updated)。
 使用 [[wikilinks]] 做交叉引用。
 所有声称必须有 sources[] 溯源。"</a:t>
            </a:r>
            <a:endParaRPr lang="zh-CN" sz="1400" b="0" i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845" y="2428240"/>
            <a:ext cx="5104765" cy="289052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868680" y="2184400"/>
            <a:ext cx="3673475" cy="75184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0" name="TextBox 13"/>
          <p:cNvSpPr txBox="1"/>
          <p:nvPr/>
        </p:nvSpPr>
        <p:spPr>
          <a:xfrm>
            <a:off x="6521450" y="1399540"/>
            <a:ext cx="6196965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altLang="en-US" sz="1500" b="1" i="0" u="none">
                <a:solidFill>
                  <a:srgbClr val="0F172A"/>
                </a:solidFill>
                <a:latin typeface="Montserrat"/>
              </a:rPr>
              <a:t>知识图谱</a:t>
            </a:r>
            <a:endParaRPr lang="en-US" altLang="zh-CN" sz="15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64300" y="1960245"/>
            <a:ext cx="438848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扫描 wiki/ 下所有 .md 文件 （包含sources摘要）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每个文件 = 一个节点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[[wikilinks]] = 边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、通过</a:t>
            </a:r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4-Signal 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相关性算法和</a:t>
            </a:r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Louvain 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社区发现</a:t>
            </a:r>
            <a:endParaRPr lang="zh-CN" altLang="en-US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</a:t>
            </a:r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Wiki 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聚成"知识簇"，供后续图扩展使用</a:t>
            </a:r>
            <a:endParaRPr lang="zh-CN" altLang="en-US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12" name="TextBox 13"/>
          <p:cNvSpPr txBox="1"/>
          <p:nvPr/>
        </p:nvSpPr>
        <p:spPr>
          <a:xfrm>
            <a:off x="6521450" y="3314065"/>
            <a:ext cx="6196965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altLang="en-US" sz="1500" b="1" i="0" u="none">
                <a:solidFill>
                  <a:srgbClr val="0F172A"/>
                </a:solidFill>
                <a:latin typeface="Montserrat"/>
              </a:rPr>
              <a:t>查询</a:t>
            </a:r>
            <a:endParaRPr lang="en-US" altLang="zh-CN" sz="15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21450" y="3735705"/>
            <a:ext cx="4388485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根据关键词匹配</a:t>
            </a:r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向量相似度</a:t>
            </a:r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检索出候选页面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执行图扩展，将候选页面的</a:t>
            </a:r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2-hop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邻居纳入考虑，</a:t>
            </a:r>
            <a:endParaRPr lang="zh-CN" altLang="en-US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使用上述相关性算法算出邻居页面权重，拿候选页</a:t>
            </a:r>
            <a:r>
              <a:rPr lang="en-US" alt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面加上关键邻居页面作为上下文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762000" y="5837555"/>
            <a:ext cx="10642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2400" b="1">
                <a:solidFill>
                  <a:srgbClr val="0F172A"/>
                </a:solidFill>
                <a:latin typeface="Montserrat"/>
                <a:sym typeface="+mn-ea"/>
              </a:rPr>
              <a:t>评价：功能最完善，说是支持</a:t>
            </a:r>
            <a:r>
              <a:rPr lang="en-US" altLang="zh-CN" sz="2400" b="1">
                <a:solidFill>
                  <a:srgbClr val="0F172A"/>
                </a:solidFill>
                <a:latin typeface="Montserrat"/>
                <a:sym typeface="+mn-ea"/>
              </a:rPr>
              <a:t>image captioning</a:t>
            </a:r>
            <a:r>
              <a:rPr lang="zh-CN" altLang="en-US" sz="2400" b="1">
                <a:solidFill>
                  <a:srgbClr val="0F172A"/>
                </a:solidFill>
                <a:latin typeface="Montserrat"/>
                <a:sym typeface="+mn-ea"/>
              </a:rPr>
              <a:t>（但是我试过发现没用）</a:t>
            </a:r>
            <a:endParaRPr lang="zh-CN" altLang="en-US" sz="2400" b="1">
              <a:solidFill>
                <a:srgbClr val="0F172A"/>
              </a:solidFill>
              <a:latin typeface="Montserrat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  <p:bldP spid="11" grpId="0"/>
      <p:bldP spid="10" grpId="0"/>
      <p:bldP spid="11" grpId="1"/>
      <p:bldP spid="10" grpId="1"/>
      <p:bldP spid="12" grpId="0"/>
      <p:bldP spid="12" grpId="1"/>
      <p:bldP spid="13" grpId="0"/>
      <p:bldP spid="13" grpId="1"/>
      <p:bldP spid="35" grpId="0"/>
      <p:bldP spid="3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zh-CN" sz="2400" b="1" i="0" u="none">
                <a:solidFill>
                  <a:srgbClr val="0F172A"/>
                </a:solidFill>
                <a:latin typeface="Montserrat"/>
              </a:rPr>
              <a:t>补充：</a:t>
            </a:r>
            <a:r>
              <a:rPr lang="en-US" altLang="zh-CN" sz="2400" b="1" i="0" u="none">
                <a:solidFill>
                  <a:srgbClr val="0F172A"/>
                </a:solidFill>
                <a:latin typeface="Montserrat"/>
              </a:rPr>
              <a:t>MinerU</a:t>
            </a:r>
            <a:endParaRPr lang="en-US" altLang="zh-CN"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文本框 29"/>
          <p:cNvSpPr txBox="1"/>
          <p:nvPr/>
        </p:nvSpPr>
        <p:spPr>
          <a:xfrm>
            <a:off x="661035" y="1309370"/>
            <a:ext cx="11530965" cy="52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这是</a:t>
            </a:r>
            <a:r>
              <a:rPr lang="en-US" altLang="zh-CN"/>
              <a:t>github</a:t>
            </a:r>
            <a:r>
              <a:rPr lang="zh-CN" altLang="en-US"/>
              <a:t>上一个将</a:t>
            </a:r>
            <a:r>
              <a:rPr lang="en-US" altLang="zh-CN"/>
              <a:t>pdf</a:t>
            </a:r>
            <a:r>
              <a:rPr lang="zh-CN" altLang="en-US"/>
              <a:t>、</a:t>
            </a:r>
            <a:r>
              <a:rPr lang="en-US" altLang="zh-CN"/>
              <a:t>docx</a:t>
            </a:r>
            <a:r>
              <a:rPr lang="zh-CN" altLang="en-US"/>
              <a:t>和</a:t>
            </a:r>
            <a:r>
              <a:rPr lang="en-US" altLang="zh-CN"/>
              <a:t>pptx</a:t>
            </a:r>
            <a:r>
              <a:rPr lang="zh-CN" altLang="en-US"/>
              <a:t>解析为</a:t>
            </a:r>
            <a:r>
              <a:rPr lang="en-US" altLang="zh-CN"/>
              <a:t>markdown</a:t>
            </a:r>
            <a:r>
              <a:rPr lang="zh-CN" altLang="en-US"/>
              <a:t>的项目，它会分离出图片，并在生成</a:t>
            </a:r>
            <a:r>
              <a:rPr lang="en-US" altLang="zh-CN"/>
              <a:t>markdown</a:t>
            </a:r>
            <a:r>
              <a:rPr lang="zh-CN" altLang="en-US"/>
              <a:t>中引用路径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61035" y="1831975"/>
            <a:ext cx="8989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它的</a:t>
            </a:r>
            <a:r>
              <a:rPr lang="en-US" altLang="zh-CN"/>
              <a:t>pdf</a:t>
            </a:r>
            <a:r>
              <a:rPr lang="zh-CN" altLang="en-US"/>
              <a:t>部分需要训练好的模型去进行解析，而另外两个不用（规则</a:t>
            </a:r>
            <a:r>
              <a:rPr lang="en-US" altLang="zh-CN"/>
              <a:t>+</a:t>
            </a:r>
            <a:r>
              <a:rPr lang="zh-CN" altLang="en-US"/>
              <a:t>算法）。因此我剥离了它的</a:t>
            </a:r>
            <a:r>
              <a:rPr lang="en-US" altLang="zh-CN"/>
              <a:t>docx</a:t>
            </a:r>
            <a:r>
              <a:rPr lang="zh-CN" altLang="en-US"/>
              <a:t>和</a:t>
            </a:r>
            <a:r>
              <a:rPr lang="en-US" altLang="zh-CN"/>
              <a:t>pptx</a:t>
            </a:r>
            <a:r>
              <a:rPr lang="zh-CN" altLang="en-US"/>
              <a:t>解析部分代码，并加入了视觉大模型</a:t>
            </a:r>
            <a:r>
              <a:rPr lang="en-US" altLang="zh-CN"/>
              <a:t>Image captioning</a:t>
            </a:r>
            <a:r>
              <a:rPr lang="zh-CN" altLang="en-US"/>
              <a:t>功能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640965"/>
            <a:ext cx="7795260" cy="398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3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933450" y="476250"/>
            <a:ext cx="11021377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zh-CN" sz="2400" b="1" i="0" u="none">
                <a:solidFill>
                  <a:srgbClr val="0F172A"/>
                </a:solidFill>
                <a:latin typeface="Montserrat"/>
              </a:rPr>
              <a:t>补充：</a:t>
            </a:r>
            <a:r>
              <a:rPr lang="en-US" altLang="zh-CN" sz="2400" b="1" i="0" u="none">
                <a:solidFill>
                  <a:srgbClr val="0F172A"/>
                </a:solidFill>
                <a:latin typeface="Montserrat"/>
              </a:rPr>
              <a:t>MinerU</a:t>
            </a:r>
            <a:endParaRPr lang="en-US" altLang="zh-CN" sz="2400" b="1" i="0" u="none">
              <a:solidFill>
                <a:srgbClr val="0F172A"/>
              </a:solidFill>
              <a:latin typeface="Montserra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476250"/>
            <a:ext cx="57150" cy="36567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" y="1129665"/>
            <a:ext cx="2946400" cy="2419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270" y="1129665"/>
            <a:ext cx="8039100" cy="2683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6305550"/>
            <a:ext cx="10668000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442" y="2129879"/>
            <a:ext cx="2918966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757" y="4385220"/>
            <a:ext cx="7596336" cy="390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5462" y="2646769"/>
            <a:ext cx="8601075" cy="676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400" b="1" i="0" u="none">
                <a:solidFill>
                  <a:srgbClr val="F8FAFC"/>
                </a:solidFill>
                <a:latin typeface="Montserrat"/>
              </a:rPr>
              <a:t>Thanks</a:t>
            </a:r>
            <a:endParaRPr lang="en-US" sz="4400" b="1" i="0" u="none">
              <a:solidFill>
                <a:srgbClr val="F8FAFC"/>
              </a:solidFill>
              <a:latin typeface="Montserra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65500" y="3574415"/>
            <a:ext cx="560959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Montserrat"/>
                <a:sym typeface="+mn-ea"/>
              </a:rPr>
              <a:t>让每一次信息流动，在自生长网络中沉淀复利</a:t>
            </a:r>
            <a:endParaRPr sz="1200" b="0" i="0" u="none">
              <a:solidFill>
                <a:srgbClr val="CBD5E1"/>
              </a:solidFill>
              <a:latin typeface="Noto Sans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6457950"/>
            <a:ext cx="1495871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Montserrat"/>
              </a:rPr>
              <a:t>END OF PRESENTATION</a:t>
            </a:r>
            <a:endParaRPr sz="825" b="0" i="0" u="none">
              <a:solidFill>
                <a:srgbClr val="475569"/>
              </a:solidFill>
              <a:latin typeface="Montserra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97757" y="4632870"/>
            <a:ext cx="2327671" cy="142875"/>
          </a:xfrm>
          <a:prstGeom prst="rect">
            <a:avLst/>
          </a:prstGeom>
          <a:noFill/>
        </p:spPr>
        <p:txBody>
          <a:bodyPr wrap="square" lIns="17264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monospace"/>
              </a:rPr>
              <a:t>Project A: karpathy-llm-wiki</a:t>
            </a:r>
            <a:endParaRPr sz="975" b="0" i="0" u="none">
              <a:solidFill>
                <a:srgbClr val="64748B"/>
              </a:solidFill>
              <a:latin typeface="monospace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06429" y="4632870"/>
            <a:ext cx="2327671" cy="142875"/>
          </a:xfrm>
          <a:prstGeom prst="rect">
            <a:avLst/>
          </a:prstGeom>
          <a:noFill/>
        </p:spPr>
        <p:txBody>
          <a:bodyPr wrap="square" lIns="17264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monospace"/>
              </a:rPr>
              <a:t>Project B: llm-wiki-compiler</a:t>
            </a:r>
            <a:endParaRPr sz="975" b="0" i="0" u="none">
              <a:solidFill>
                <a:srgbClr val="64748B"/>
              </a:solidFill>
              <a:latin typeface="monospac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15101" y="4632870"/>
            <a:ext cx="2178992" cy="142875"/>
          </a:xfrm>
          <a:prstGeom prst="rect">
            <a:avLst/>
          </a:prstGeom>
          <a:noFill/>
        </p:spPr>
        <p:txBody>
          <a:bodyPr wrap="square" lIns="17264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monospace"/>
              </a:rPr>
              <a:t>Project C: nashsu/llm_wiki</a:t>
            </a:r>
            <a:endParaRPr sz="975" b="0" i="0" u="none">
              <a:solidFill>
                <a:srgbClr val="64748B"/>
              </a:solidFill>
              <a:latin typeface="monospace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757" y="4642395"/>
            <a:ext cx="96440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429" y="4642395"/>
            <a:ext cx="9644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101" y="4642395"/>
            <a:ext cx="96440" cy="1238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2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3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4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5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6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7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8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9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10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11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12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13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14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15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16.xml><?xml version="1.0" encoding="utf-8"?>
<p:tagLst xmlns:p="http://schemas.openxmlformats.org/presentationml/2006/main">
  <p:tag name="KSO_WM_DIAGRAM_VIRTUALLY_FRAME" val="{&quot;height&quot;:176.90779527559053,&quot;left&quot;:81.75,&quot;top&quot;:170.98669291338584,&quot;width&quot;:896.35}"/>
</p:tagLst>
</file>

<file path=ppt/tags/tag17.xml><?xml version="1.0" encoding="utf-8"?>
<p:tagLst xmlns:p="http://schemas.openxmlformats.org/presentationml/2006/main">
  <p:tag name="KSO_WM_DIAGRAM_VIRTUALLY_FRAME" val="{&quot;height&quot;:139.85,&quot;left&quot;:73.5,&quot;top&quot;:221.2,&quot;width&quot;:388.85}"/>
</p:tagLst>
</file>

<file path=ppt/tags/tag18.xml><?xml version="1.0" encoding="utf-8"?>
<p:tagLst xmlns:p="http://schemas.openxmlformats.org/presentationml/2006/main">
  <p:tag name="KSO_WM_DIAGRAM_VIRTUALLY_FRAME" val="{&quot;height&quot;:139.85,&quot;left&quot;:73.5,&quot;top&quot;:221.2,&quot;width&quot;:388.85}"/>
</p:tagLst>
</file>

<file path=ppt/tags/tag19.xml><?xml version="1.0" encoding="utf-8"?>
<p:tagLst xmlns:p="http://schemas.openxmlformats.org/presentationml/2006/main">
  <p:tag name="KSO_WM_DIAGRAM_VIRTUALLY_FRAME" val="{&quot;height&quot;:139.85,&quot;left&quot;:73.5,&quot;top&quot;:221.2,&quot;width&quot;:388.85}"/>
</p:tagLst>
</file>

<file path=ppt/tags/tag20.xml><?xml version="1.0" encoding="utf-8"?>
<p:tagLst xmlns:p="http://schemas.openxmlformats.org/presentationml/2006/main">
  <p:tag name="KSO_WM_DIAGRAM_VIRTUALLY_FRAME" val="{&quot;height&quot;:139.85,&quot;left&quot;:73.5,&quot;top&quot;:221.2,&quot;width&quot;:388.85}"/>
</p:tagLst>
</file>

<file path=ppt/tags/tag21.xml><?xml version="1.0" encoding="utf-8"?>
<p:tagLst xmlns:p="http://schemas.openxmlformats.org/presentationml/2006/main">
  <p:tag name="KSO_WM_DIAGRAM_VIRTUALLY_FRAME" val="{&quot;height&quot;:139.85,&quot;left&quot;:73.5,&quot;top&quot;:221.2,&quot;width&quot;:388.85}"/>
</p:tagLst>
</file>

<file path=ppt/tags/tag22.xml><?xml version="1.0" encoding="utf-8"?>
<p:tagLst xmlns:p="http://schemas.openxmlformats.org/presentationml/2006/main">
  <p:tag name="KSO_WM_DIAGRAM_VIRTUALLY_FRAME" val="{&quot;height&quot;:139.85,&quot;left&quot;:73.5,&quot;top&quot;:221.2,&quot;width&quot;:388.85}"/>
</p:tagLst>
</file>

<file path=ppt/tags/tag23.xml><?xml version="1.0" encoding="utf-8"?>
<p:tagLst xmlns:p="http://schemas.openxmlformats.org/presentationml/2006/main">
  <p:tag name="KSO_WM_DIAGRAM_VIRTUALLY_FRAME" val="{&quot;height&quot;:139.85,&quot;left&quot;:73.5,&quot;top&quot;:221.2,&quot;width&quot;:388.85}"/>
</p:tagLst>
</file>

<file path=ppt/tags/tag24.xml><?xml version="1.0" encoding="utf-8"?>
<p:tagLst xmlns:p="http://schemas.openxmlformats.org/presentationml/2006/main">
  <p:tag name="KSO_WM_DIAGRAM_VIRTUALLY_FRAME" val="{&quot;height&quot;:139.85,&quot;left&quot;:73.5,&quot;top&quot;:221.2,&quot;width&quot;:388.85}"/>
</p:tagLst>
</file>

<file path=ppt/tags/tag25.xml><?xml version="1.0" encoding="utf-8"?>
<p:tagLst xmlns:p="http://schemas.openxmlformats.org/presentationml/2006/main">
  <p:tag name="KSO_WM_DIAGRAM_VIRTUALLY_FRAME" val="{&quot;height&quot;:139.85,&quot;left&quot;:73.5,&quot;top&quot;:221.2,&quot;width&quot;:388.85}"/>
</p:tagLst>
</file>

<file path=ppt/tags/tag26.xml><?xml version="1.0" encoding="utf-8"?>
<p:tagLst xmlns:p="http://schemas.openxmlformats.org/presentationml/2006/main">
  <p:tag name="KSO_WM_DIAGRAM_VIRTUALLY_FRAME" val="{&quot;height&quot;:154,&quot;left&quot;:71.25,&quot;top&quot;:207.05,&quot;width&quot;:391.1}"/>
</p:tagLst>
</file>

<file path=ppt/tags/tag27.xml><?xml version="1.0" encoding="utf-8"?>
<p:tagLst xmlns:p="http://schemas.openxmlformats.org/presentationml/2006/main">
  <p:tag name="KSO_WM_DIAGRAM_VIRTUALLY_FRAME" val="{&quot;height&quot;:154,&quot;left&quot;:71.25,&quot;top&quot;:207.05,&quot;width&quot;:391.1}"/>
</p:tagLst>
</file>

<file path=ppt/tags/tag28.xml><?xml version="1.0" encoding="utf-8"?>
<p:tagLst xmlns:p="http://schemas.openxmlformats.org/presentationml/2006/main">
  <p:tag name="KSO_WM_DIAGRAM_VIRTUALLY_FRAME" val="{&quot;height&quot;:154,&quot;left&quot;:71.25,&quot;top&quot;:207.05,&quot;width&quot;:391.1}"/>
</p:tagLst>
</file>

<file path=ppt/tags/tag29.xml><?xml version="1.0" encoding="utf-8"?>
<p:tagLst xmlns:p="http://schemas.openxmlformats.org/presentationml/2006/main">
  <p:tag name="KSO_WM_DIAGRAM_VIRTUALLY_FRAME" val="{&quot;height&quot;:154,&quot;left&quot;:71.25,&quot;top&quot;:207.05,&quot;width&quot;:391.1}"/>
</p:tagLst>
</file>

<file path=ppt/tags/tag30.xml><?xml version="1.0" encoding="utf-8"?>
<p:tagLst xmlns:p="http://schemas.openxmlformats.org/presentationml/2006/main">
  <p:tag name="KSO_WM_DIAGRAM_VIRTUALLY_FRAME" val="{&quot;height&quot;:154,&quot;left&quot;:71.25,&quot;top&quot;:207.05,&quot;width&quot;:391.1}"/>
</p:tagLst>
</file>

<file path=ppt/tags/tag31.xml><?xml version="1.0" encoding="utf-8"?>
<p:tagLst xmlns:p="http://schemas.openxmlformats.org/presentationml/2006/main">
  <p:tag name="KSO_WM_DIAGRAM_VIRTUALLY_FRAME" val="{&quot;height&quot;:154,&quot;left&quot;:71.25,&quot;top&quot;:207.05,&quot;width&quot;:391.1}"/>
</p:tagLst>
</file>

<file path=ppt/tags/tag32.xml><?xml version="1.0" encoding="utf-8"?>
<p:tagLst xmlns:p="http://schemas.openxmlformats.org/presentationml/2006/main">
  <p:tag name="KSO_WM_DIAGRAM_VIRTUALLY_FRAME" val="{&quot;height&quot;:154,&quot;left&quot;:71.25,&quot;top&quot;:207.05,&quot;width&quot;:391.1}"/>
</p:tagLst>
</file>

<file path=ppt/tags/tag33.xml><?xml version="1.0" encoding="utf-8"?>
<p:tagLst xmlns:p="http://schemas.openxmlformats.org/presentationml/2006/main">
  <p:tag name="KSO_WM_DIAGRAM_VIRTUALLY_FRAME" val="{&quot;height&quot;:154,&quot;left&quot;:71.25,&quot;top&quot;:207.05,&quot;width&quot;:391.1}"/>
</p:tagLst>
</file>

<file path=ppt/tags/tag34.xml><?xml version="1.0" encoding="utf-8"?>
<p:tagLst xmlns:p="http://schemas.openxmlformats.org/presentationml/2006/main">
  <p:tag name="KSO_WM_DIAGRAM_VIRTUALLY_FRAME" val="{&quot;height&quot;:146.34370078740153,&quot;left&quot;:81.77496062992122,&quot;top&quot;:196.5937007874016,&quot;width&quot;:363.37496062992125}"/>
</p:tagLst>
</file>

<file path=ppt/tags/tag35.xml><?xml version="1.0" encoding="utf-8"?>
<p:tagLst xmlns:p="http://schemas.openxmlformats.org/presentationml/2006/main">
  <p:tag name="KSO_WM_DIAGRAM_VIRTUALLY_FRAME" val="{&quot;height&quot;:146.34370078740153,&quot;left&quot;:81.77496062992122,&quot;top&quot;:196.5937007874016,&quot;width&quot;:363.37496062992125}"/>
</p:tagLst>
</file>

<file path=ppt/tags/tag36.xml><?xml version="1.0" encoding="utf-8"?>
<p:tagLst xmlns:p="http://schemas.openxmlformats.org/presentationml/2006/main">
  <p:tag name="KSO_WM_DIAGRAM_VIRTUALLY_FRAME" val="{&quot;height&quot;:146.34370078740153,&quot;left&quot;:81.77496062992122,&quot;top&quot;:196.5937007874016,&quot;width&quot;:363.37496062992125}"/>
</p:tagLst>
</file>

<file path=ppt/tags/tag37.xml><?xml version="1.0" encoding="utf-8"?>
<p:tagLst xmlns:p="http://schemas.openxmlformats.org/presentationml/2006/main">
  <p:tag name="KSO_WM_DIAGRAM_VIRTUALLY_FRAME" val="{&quot;height&quot;:146.34370078740153,&quot;left&quot;:81.77496062992122,&quot;top&quot;:196.5937007874016,&quot;width&quot;:363.37496062992125}"/>
</p:tagLst>
</file>

<file path=ppt/tags/tag38.xml><?xml version="1.0" encoding="utf-8"?>
<p:tagLst xmlns:p="http://schemas.openxmlformats.org/presentationml/2006/main">
  <p:tag name="KSO_WM_DIAGRAM_VIRTUALLY_FRAME" val="{&quot;height&quot;:154,&quot;left&quot;:71.25,&quot;top&quot;:207.05,&quot;width&quot;:391.1}"/>
</p:tagLst>
</file>

<file path=ppt/tags/tag39.xml><?xml version="1.0" encoding="utf-8"?>
<p:tagLst xmlns:p="http://schemas.openxmlformats.org/presentationml/2006/main">
  <p:tag name="KSO_WM_DIAGRAM_VIRTUALLY_FRAME" val="{&quot;height&quot;:164.45629921259842,&quot;left&quot;:71.25,&quot;top&quot;:196.5937007874016,&quot;width&quot;:391.1}"/>
</p:tagLst>
</file>

<file path=ppt/tags/tag40.xml><?xml version="1.0" encoding="utf-8"?>
<p:tagLst xmlns:p="http://schemas.openxmlformats.org/presentationml/2006/main">
  <p:tag name="KSO_WM_DIAGRAM_VIRTUALLY_FRAME" val="{&quot;height&quot;:164.45629921259842,&quot;left&quot;:71.25,&quot;top&quot;:196.5937007874016,&quot;width&quot;:391.1}"/>
</p:tagLst>
</file>

<file path=ppt/tags/tag41.xml><?xml version="1.0" encoding="utf-8"?>
<p:tagLst xmlns:p="http://schemas.openxmlformats.org/presentationml/2006/main">
  <p:tag name="KSO_WM_DIAGRAM_VIRTUALLY_FRAME" val="{&quot;height&quot;:164.45629921259842,&quot;left&quot;:71.25,&quot;top&quot;:196.5937007874016,&quot;width&quot;:391.1}"/>
</p:tagLst>
</file>

<file path=ppt/tags/tag42.xml><?xml version="1.0" encoding="utf-8"?>
<p:tagLst xmlns:p="http://schemas.openxmlformats.org/presentationml/2006/main">
  <p:tag name="KSO_WM_DIAGRAM_VIRTUALLY_FRAME" val="{&quot;height&quot;:164.45629921259842,&quot;left&quot;:71.25,&quot;top&quot;:196.5937007874016,&quot;width&quot;:391.1}"/>
</p:tagLst>
</file>

<file path=ppt/tags/tag43.xml><?xml version="1.0" encoding="utf-8"?>
<p:tagLst xmlns:p="http://schemas.openxmlformats.org/presentationml/2006/main">
  <p:tag name="KSO_WM_DIAGRAM_VIRTUALLY_FRAME" val="{&quot;height&quot;:164.45629921259842,&quot;left&quot;:71.25,&quot;top&quot;:196.5937007874016,&quot;width&quot;:391.1}"/>
</p:tagLst>
</file>

<file path=ppt/tags/tag44.xml><?xml version="1.0" encoding="utf-8"?>
<p:tagLst xmlns:p="http://schemas.openxmlformats.org/presentationml/2006/main">
  <p:tag name="KSO_WM_DIAGRAM_VIRTUALLY_FRAME" val="{&quot;height&quot;:164.45629921259842,&quot;left&quot;:71.25,&quot;top&quot;:196.5937007874016,&quot;width&quot;:391.1}"/>
</p:tagLst>
</file>

<file path=ppt/tags/tag45.xml><?xml version="1.0" encoding="utf-8"?>
<p:tagLst xmlns:p="http://schemas.openxmlformats.org/presentationml/2006/main">
  <p:tag name="KSO_WM_DIAGRAM_VIRTUALLY_FRAME" val="{&quot;height&quot;:164.45629921259842,&quot;left&quot;:71.25,&quot;top&quot;:196.5937007874016,&quot;width&quot;:391.1}"/>
</p:tagLst>
</file>

<file path=ppt/tags/tag46.xml><?xml version="1.0" encoding="utf-8"?>
<p:tagLst xmlns:p="http://schemas.openxmlformats.org/presentationml/2006/main">
  <p:tag name="KSO_WM_DIAGRAM_VIRTUALLY_FRAME" val="{&quot;height&quot;:164.45629921259842,&quot;left&quot;:71.25,&quot;top&quot;:196.5937007874016,&quot;width&quot;:391.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6665</Words>
  <Application>WPS 演示</Application>
  <PresentationFormat>On-screen Show (4:3)</PresentationFormat>
  <Paragraphs>468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44" baseType="lpstr">
      <vt:lpstr>Arial</vt:lpstr>
      <vt:lpstr>宋体</vt:lpstr>
      <vt:lpstr>Wingdings</vt:lpstr>
      <vt:lpstr>Arial</vt:lpstr>
      <vt:lpstr>Montserrat</vt:lpstr>
      <vt:lpstr>Segoe Print</vt:lpstr>
      <vt:lpstr>Noto Sans SC</vt:lpstr>
      <vt:lpstr>Noto Sans SC SemiBold</vt:lpstr>
      <vt:lpstr>monospace</vt:lpstr>
      <vt:lpstr>Calibri</vt:lpstr>
      <vt:lpstr>微软雅黑</vt:lpstr>
      <vt:lpstr>Arial Unicode MS</vt:lpstr>
      <vt:lpstr>Inter</vt:lpstr>
      <vt:lpstr>DejaVu Math TeX Gyre</vt:lpstr>
      <vt:lpstr>Calibri</vt:lpstr>
      <vt:lpstr>Consolas</vt:lpstr>
      <vt:lpstr>Consolas</vt:lpstr>
      <vt:lpstr>Consolas</vt:lpstr>
      <vt:lpstr>Inter</vt:lpstr>
      <vt:lpstr>Montserrat</vt:lpstr>
      <vt:lpstr>Noto Sans SC</vt:lpstr>
      <vt:lpstr>Noto Sans SC SemiBold</vt:lpstr>
      <vt:lpstr>monospace</vt:lpstr>
      <vt:lpstr>JetBrains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锦宇</cp:lastModifiedBy>
  <cp:revision>4</cp:revision>
  <dcterms:created xsi:type="dcterms:W3CDTF">2013-01-27T09:14:00Z</dcterms:created>
  <dcterms:modified xsi:type="dcterms:W3CDTF">2026-07-19T16:27:38Z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A9C51FAF3FC8493F85FBEA1CF7374697_12</vt:lpwstr>
  </property>
</Properties>
</file>